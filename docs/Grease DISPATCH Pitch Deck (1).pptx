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embeddedFontLst>
    <p:embeddedFont>
      <p:font typeface="Inter"/>
      <p:regular r:id="rId15"/>
      <p:bold r:id="rId16"/>
      <p:italic r:id="rId17"/>
      <p:boldItalic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regular.fntdata"/><Relationship Id="rId14" Type="http://schemas.openxmlformats.org/officeDocument/2006/relationships/slide" Target="slides/slide9.xml"/><Relationship Id="rId17" Type="http://schemas.openxmlformats.org/officeDocument/2006/relationships/font" Target="fonts/Inter-italic.fntdata"/><Relationship Id="rId16" Type="http://schemas.openxmlformats.org/officeDocument/2006/relationships/font" Target="fonts/Int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Int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Our Datathon Project: Project Dispatch aims to find a solution to the high ambulance </a:t>
            </a:r>
            <a:r>
              <a:rPr lang="en-US"/>
              <a:t>response</a:t>
            </a:r>
            <a:r>
              <a:rPr lang="en-US"/>
              <a:t> times in New York City. Worsening response times have caused a decrease by 2% of cardiac arrest revivals and therefore directly causing more deaths. We aim to solve this life or death situation.</a:t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Why New York? </a:t>
            </a:r>
            <a:endParaRPr b="1" sz="1400">
              <a:solidFill>
                <a:srgbClr val="0F172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rPr>
              <a:t>Most boroughs in new york have over 12 minute response time and there is a large data set from new york including cases many cases where ambulances took too long to respond.</a:t>
            </a:r>
            <a:endParaRPr>
              <a:solidFill>
                <a:srgbClr val="33415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56d008257962d348_8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solve this problem, we have used AI to predict where incidents will occur so that </a:t>
            </a:r>
            <a:r>
              <a:rPr lang="en-US"/>
              <a:t>emergency services can send lightweight vehicles to areas with a high chance of an incident occurring.</a:t>
            </a:r>
            <a:r>
              <a:rPr lang="en-US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Why 330? About 4600 calls a day times about an hour per job equals 190 busy units on average with 200 - 300 units the simulation is overloaded at 400+ the static layout already reaches about 88% of critical calls in 8 minutes. But 330, gives about 71% providing a beneficial support net without leading to diminishing marginal returns to keep costs lower.</a:t>
            </a:r>
            <a:endParaRPr/>
          </a:p>
        </p:txBody>
      </p:sp>
      <p:sp>
        <p:nvSpPr>
          <p:cNvPr id="126" name="Google Shape;126;h56d008257962d348_8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h56d008257962d348_8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h56d008257962d348_8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h56d008257962d348_8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h56d008257962d348_8_20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133975"/>
            <a:ext cx="762000" cy="5715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0" y="0"/>
            <a:ext cx="4344739" cy="152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4344739" y="0"/>
            <a:ext cx="1861988" cy="152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06876" y="0"/>
            <a:ext cx="5985123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620687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06876" y="0"/>
            <a:ext cx="5985123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609600" y="1666875"/>
            <a:ext cx="6234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FFCC00"/>
                </a:solidFill>
                <a:latin typeface="Oswald"/>
                <a:ea typeface="Oswald"/>
                <a:cs typeface="Oswald"/>
                <a:sym typeface="Oswald"/>
              </a:rPr>
              <a:t>IBM Z Datathon: Theme 3 - Wildcard</a:t>
            </a:r>
            <a:endParaRPr sz="1350">
              <a:solidFill>
                <a:srgbClr val="FFCC00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09600" y="2143125"/>
            <a:ext cx="5337073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PROJECT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 DISPATCH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09600" y="4124325"/>
            <a:ext cx="390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 solution to New York EMS response times.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4"/>
          <p:cNvSpPr/>
          <p:nvPr/>
        </p:nvSpPr>
        <p:spPr>
          <a:xfrm>
            <a:off x="762000" y="4457549"/>
            <a:ext cx="57300" cy="9246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/>
          <p:nvPr/>
        </p:nvSpPr>
        <p:spPr>
          <a:xfrm>
            <a:off x="6472275" y="1912275"/>
            <a:ext cx="4953000" cy="13854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6472275" y="3811225"/>
            <a:ext cx="4953000" cy="17106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472275" y="1912275"/>
            <a:ext cx="57300" cy="13854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472275" y="3811225"/>
            <a:ext cx="57300" cy="17106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19200" y="609600"/>
            <a:ext cx="243530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PROBLEM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57275" y="2119600"/>
            <a:ext cx="53532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13 minutes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757275" y="3415004"/>
            <a:ext cx="53007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AVERAGE URGENT CARE AMBULANCE RESPONSE TIME IN NEW YORK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947775" y="4538845"/>
            <a:ext cx="48579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Legacy infrastructure cannot handle the low staffing and high call volume especially in underserved </a:t>
            </a:r>
            <a:r>
              <a:rPr lang="en-US" sz="16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boroughs</a:t>
            </a:r>
            <a:r>
              <a:rPr b="0" i="0" lang="en-US" sz="16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6834218" y="2119600"/>
            <a:ext cx="460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333333"/>
                </a:solidFill>
                <a:highlight>
                  <a:srgbClr val="FFFFFF"/>
                </a:highlight>
                <a:latin typeface="Oswald"/>
                <a:ea typeface="Oswald"/>
                <a:cs typeface="Oswald"/>
                <a:sym typeface="Oswald"/>
              </a:rPr>
              <a:t>"PEOPLE ARE DYING BECAUSE THERE ARE NO STAFF,"</a:t>
            </a:r>
            <a:r>
              <a:rPr b="1"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sz="1800"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6834225" y="2791600"/>
            <a:ext cx="460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333333"/>
                </a:solidFill>
                <a:highlight>
                  <a:srgbClr val="FFFFFF"/>
                </a:highlight>
                <a:latin typeface="Inter"/>
                <a:ea typeface="Inter"/>
                <a:cs typeface="Inter"/>
                <a:sym typeface="Inter"/>
              </a:rPr>
              <a:t>Anthony Almojera, a lieutenant paramedi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 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recognising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the ever 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increasing</a:t>
            </a:r>
            <a:r>
              <a:rPr lang="en-US" sz="135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callout time</a:t>
            </a:r>
            <a:r>
              <a:rPr i="0" lang="en-US" sz="13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5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6745143" y="3984750"/>
            <a:ext cx="4600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33333"/>
                </a:solidFill>
                <a:highlight>
                  <a:schemeClr val="lt1"/>
                </a:highlight>
                <a:latin typeface="Oswald"/>
                <a:ea typeface="Oswald"/>
                <a:cs typeface="Oswald"/>
                <a:sym typeface="Oswald"/>
              </a:rPr>
              <a:t>"CLIMATE PROJECTIONS FOR NEW YORK CITY SHOWS SOME OF THE STATE’S LARGEST INCREASE IN EXTREME HEAT,"</a:t>
            </a:r>
            <a:r>
              <a:rPr b="1" lang="en-US" sz="18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 </a:t>
            </a:r>
            <a:endParaRPr b="1" sz="18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6745150" y="4966645"/>
            <a:ext cx="4857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Climate change is creating more drastic weather, which effects the most vulnerable people.</a:t>
            </a:r>
            <a:endParaRPr sz="13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5"/>
          <p:cNvSpPr/>
          <p:nvPr/>
        </p:nvSpPr>
        <p:spPr>
          <a:xfrm>
            <a:off x="609600" y="743529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09600" y="1361129"/>
            <a:ext cx="4100400" cy="20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PRIMARY ADOPTION FOCUSED ON DENSE METROPOLITAN REGIONS. MODEL TRAINED ON NEW YORK CITY</a:t>
            </a: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 AS IT HAS THE LARGEST AND MOST INFORMATIVE DATASET AVAILABLE.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1066800" y="610179"/>
            <a:ext cx="4650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TARGET DEMOGRAPHIC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09600" y="3653770"/>
            <a:ext cx="685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490,000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09600" y="4263370"/>
            <a:ext cx="685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VEHICLES 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09600" y="4796770"/>
            <a:ext cx="6858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8</a:t>
            </a:r>
            <a:r>
              <a:rPr b="1" i="0" lang="en-US" sz="48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.8M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09600" y="5406370"/>
            <a:ext cx="685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NYC POPULATION</a:t>
            </a:r>
            <a:endParaRPr/>
          </a:p>
        </p:txBody>
      </p:sp>
      <p:pic>
        <p:nvPicPr>
          <p:cNvPr id="122" name="Google Shape;122;p15" title="Screenshot 2026-10-17 at 14.55.31.png"/>
          <p:cNvPicPr preferRelativeResize="0"/>
          <p:nvPr/>
        </p:nvPicPr>
        <p:blipFill rotWithShape="1">
          <a:blip r:embed="rId3">
            <a:alphaModFix/>
          </a:blip>
          <a:srcRect b="0" l="0" r="0" t="8900"/>
          <a:stretch/>
        </p:blipFill>
        <p:spPr>
          <a:xfrm>
            <a:off x="6537525" y="1025200"/>
            <a:ext cx="5654475" cy="59960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 rotWithShape="1">
          <a:blip r:embed="rId4">
            <a:alphaModFix/>
          </a:blip>
          <a:srcRect b="32314" l="7340" r="4016" t="32922"/>
          <a:stretch/>
        </p:blipFill>
        <p:spPr>
          <a:xfrm>
            <a:off x="7070485" y="0"/>
            <a:ext cx="5053791" cy="1048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6"/>
          <p:cNvSpPr/>
          <p:nvPr/>
        </p:nvSpPr>
        <p:spPr>
          <a:xfrm>
            <a:off x="762000" y="76200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6"/>
          <p:cNvSpPr/>
          <p:nvPr/>
        </p:nvSpPr>
        <p:spPr>
          <a:xfrm>
            <a:off x="762000" y="1488425"/>
            <a:ext cx="4916100" cy="2421300"/>
          </a:xfrm>
          <a:prstGeom prst="roundRect">
            <a:avLst>
              <a:gd fmla="val 28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50" lIns="82550" spcFirstLastPara="1" rIns="82550" wrap="square" tIns="4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6042155" y="1488425"/>
            <a:ext cx="4916100" cy="2421300"/>
          </a:xfrm>
          <a:prstGeom prst="roundRect">
            <a:avLst>
              <a:gd fmla="val 28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50" lIns="82550" spcFirstLastPara="1" rIns="82550" wrap="square" tIns="4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762000" y="4253795"/>
            <a:ext cx="4916100" cy="2421300"/>
          </a:xfrm>
          <a:prstGeom prst="roundRect">
            <a:avLst>
              <a:gd fmla="val 28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50" lIns="82550" spcFirstLastPara="1" rIns="82550" wrap="square" tIns="4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6042155" y="4253795"/>
            <a:ext cx="4916100" cy="2421300"/>
          </a:xfrm>
          <a:prstGeom prst="roundRect">
            <a:avLst>
              <a:gd fmla="val 2841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1250" lIns="82550" spcFirstLastPara="1" rIns="82550" wrap="square" tIns="412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149" y="1901195"/>
            <a:ext cx="455186" cy="34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6303" y="1901195"/>
            <a:ext cx="364149" cy="34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26149" y="4666565"/>
            <a:ext cx="364149" cy="343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06303" y="4666565"/>
            <a:ext cx="409667" cy="343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1295400" y="609600"/>
            <a:ext cx="461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THE SOLUTION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1126149" y="2451555"/>
            <a:ext cx="54963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7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MOBILE MEDICAL UNITS</a:t>
            </a:r>
            <a:endParaRPr sz="1264"/>
          </a:p>
        </p:txBody>
      </p:sp>
      <p:sp>
        <p:nvSpPr>
          <p:cNvPr id="139" name="Google Shape;139;p16"/>
          <p:cNvSpPr txBox="1"/>
          <p:nvPr/>
        </p:nvSpPr>
        <p:spPr>
          <a:xfrm>
            <a:off x="1069750" y="2855825"/>
            <a:ext cx="4391700" cy="9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Dynamic route optimization across NYC. The optimised number of units has been calculated to </a:t>
            </a:r>
            <a:r>
              <a:rPr lang="en-US" sz="1625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330.</a:t>
            </a:r>
            <a:endParaRPr sz="1264"/>
          </a:p>
        </p:txBody>
      </p:sp>
      <p:sp>
        <p:nvSpPr>
          <p:cNvPr id="140" name="Google Shape;140;p16"/>
          <p:cNvSpPr txBox="1"/>
          <p:nvPr/>
        </p:nvSpPr>
        <p:spPr>
          <a:xfrm>
            <a:off x="6406303" y="2451555"/>
            <a:ext cx="5280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7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PREDICTIVE ROUTING</a:t>
            </a:r>
            <a:endParaRPr sz="1264"/>
          </a:p>
        </p:txBody>
      </p:sp>
      <p:sp>
        <p:nvSpPr>
          <p:cNvPr id="141" name="Google Shape;141;p16"/>
          <p:cNvSpPr txBox="1"/>
          <p:nvPr/>
        </p:nvSpPr>
        <p:spPr>
          <a:xfrm>
            <a:off x="6406303" y="2919279"/>
            <a:ext cx="42789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Historical incident-based unit distribution.</a:t>
            </a:r>
            <a:endParaRPr sz="1264"/>
          </a:p>
        </p:txBody>
      </p:sp>
      <p:sp>
        <p:nvSpPr>
          <p:cNvPr id="142" name="Google Shape;142;p16"/>
          <p:cNvSpPr txBox="1"/>
          <p:nvPr/>
        </p:nvSpPr>
        <p:spPr>
          <a:xfrm>
            <a:off x="1126149" y="5216924"/>
            <a:ext cx="54963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7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INCIDENT PREDICTION</a:t>
            </a:r>
            <a:endParaRPr sz="1264"/>
          </a:p>
        </p:txBody>
      </p:sp>
      <p:sp>
        <p:nvSpPr>
          <p:cNvPr id="143" name="Google Shape;143;p16"/>
          <p:cNvSpPr txBox="1"/>
          <p:nvPr/>
        </p:nvSpPr>
        <p:spPr>
          <a:xfrm>
            <a:off x="1126149" y="5684650"/>
            <a:ext cx="427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Weather-triggered preventative medical deployment.</a:t>
            </a:r>
            <a:endParaRPr sz="1264"/>
          </a:p>
        </p:txBody>
      </p:sp>
      <p:sp>
        <p:nvSpPr>
          <p:cNvPr id="144" name="Google Shape;144;p16"/>
          <p:cNvSpPr txBox="1"/>
          <p:nvPr/>
        </p:nvSpPr>
        <p:spPr>
          <a:xfrm>
            <a:off x="6406303" y="5216924"/>
            <a:ext cx="5280000" cy="3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67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PRIORITY LOCATIONS</a:t>
            </a:r>
            <a:endParaRPr sz="1264"/>
          </a:p>
        </p:txBody>
      </p:sp>
      <p:sp>
        <p:nvSpPr>
          <p:cNvPr id="145" name="Google Shape;145;p16"/>
          <p:cNvSpPr txBox="1"/>
          <p:nvPr/>
        </p:nvSpPr>
        <p:spPr>
          <a:xfrm>
            <a:off x="6406303" y="5684650"/>
            <a:ext cx="52347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25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EMS dispatch data hotspot mapping.</a:t>
            </a:r>
            <a:endParaRPr sz="1264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"/>
          <p:cNvSpPr/>
          <p:nvPr/>
        </p:nvSpPr>
        <p:spPr>
          <a:xfrm>
            <a:off x="762000" y="76200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 txBox="1"/>
          <p:nvPr/>
        </p:nvSpPr>
        <p:spPr>
          <a:xfrm>
            <a:off x="1295400" y="609600"/>
            <a:ext cx="5973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THE </a:t>
            </a:r>
            <a:r>
              <a:rPr b="1" lang="en-US" sz="4800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IMPLEMENTATION</a:t>
            </a:r>
            <a:endParaRPr/>
          </a:p>
        </p:txBody>
      </p:sp>
      <p:sp>
        <p:nvSpPr>
          <p:cNvPr id="152" name="Google Shape;152;p17"/>
          <p:cNvSpPr/>
          <p:nvPr/>
        </p:nvSpPr>
        <p:spPr>
          <a:xfrm>
            <a:off x="6930550" y="417600"/>
            <a:ext cx="4953000" cy="11229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 txBox="1"/>
          <p:nvPr/>
        </p:nvSpPr>
        <p:spPr>
          <a:xfrm>
            <a:off x="7063275" y="513600"/>
            <a:ext cx="4820400" cy="93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66666"/>
                </a:solidFill>
                <a:latin typeface="Inter"/>
                <a:ea typeface="Inter"/>
                <a:cs typeface="Inter"/>
                <a:sym typeface="Inter"/>
              </a:rPr>
              <a:t>Our target client base is an emergency medical dispatch organisation, therefore we believe it is necessary to include all the statistics.</a:t>
            </a:r>
            <a:endParaRPr sz="1600">
              <a:solidFill>
                <a:srgbClr val="666666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6930550" y="417600"/>
            <a:ext cx="60300" cy="11229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5" name="Google Shape;15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/>
          <p:nvPr/>
        </p:nvSpPr>
        <p:spPr>
          <a:xfrm>
            <a:off x="1466850" y="1387800"/>
            <a:ext cx="9963300" cy="465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8"/>
          <p:cNvSpPr/>
          <p:nvPr/>
        </p:nvSpPr>
        <p:spPr>
          <a:xfrm>
            <a:off x="323575" y="6043800"/>
            <a:ext cx="304800" cy="3048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8"/>
          <p:cNvSpPr/>
          <p:nvPr/>
        </p:nvSpPr>
        <p:spPr>
          <a:xfrm>
            <a:off x="1085850" y="1895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8"/>
          <p:cNvSpPr/>
          <p:nvPr/>
        </p:nvSpPr>
        <p:spPr>
          <a:xfrm>
            <a:off x="1276350" y="1895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8"/>
          <p:cNvSpPr/>
          <p:nvPr/>
        </p:nvSpPr>
        <p:spPr>
          <a:xfrm>
            <a:off x="1466850" y="18954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CBD5E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1219200" y="609600"/>
            <a:ext cx="176022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THE DEMO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9665642" y="1876425"/>
            <a:ext cx="180063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DISPATCH_SYSTEM_V2</a:t>
            </a:r>
            <a:endParaRPr/>
          </a:p>
        </p:txBody>
      </p:sp>
      <p:pic>
        <p:nvPicPr>
          <p:cNvPr id="167" name="Google Shape;16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6425" y="326625"/>
            <a:ext cx="10897649" cy="607669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168" name="Google Shape;168;p18"/>
          <p:cNvSpPr txBox="1"/>
          <p:nvPr/>
        </p:nvSpPr>
        <p:spPr>
          <a:xfrm rot="-5400000">
            <a:off x="-1582925" y="3463875"/>
            <a:ext cx="4117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CC00"/>
                </a:solidFill>
                <a:latin typeface="Inter"/>
                <a:ea typeface="Inter"/>
                <a:cs typeface="Inter"/>
                <a:sym typeface="Inter"/>
              </a:rPr>
              <a:t>USER INTERFACE</a:t>
            </a:r>
            <a:endParaRPr sz="100">
              <a:solidFill>
                <a:srgbClr val="FFCC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5F6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/>
          <p:nvPr/>
        </p:nvSpPr>
        <p:spPr>
          <a:xfrm>
            <a:off x="762000" y="76200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762000" y="1752600"/>
            <a:ext cx="4793700" cy="5105400"/>
          </a:xfrm>
          <a:prstGeom prst="roundRect">
            <a:avLst>
              <a:gd fmla="val 238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860400" y="1752600"/>
            <a:ext cx="5569500" cy="5105400"/>
          </a:xfrm>
          <a:prstGeom prst="roundRect">
            <a:avLst>
              <a:gd fmla="val 2121" name="adj"/>
            </a:avLst>
          </a:prstGeom>
          <a:solidFill>
            <a:srgbClr val="0A192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9200" y="634424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7605" y="496252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17605" y="5960566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1295400" y="609600"/>
            <a:ext cx="9626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A192F"/>
                </a:solidFill>
                <a:latin typeface="Oswald"/>
                <a:ea typeface="Oswald"/>
                <a:cs typeface="Oswald"/>
                <a:sym typeface="Oswald"/>
              </a:rPr>
              <a:t>THE COMPETITIVE ADVANTAGE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1219200" y="2286000"/>
            <a:ext cx="509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718096"/>
                </a:solidFill>
                <a:latin typeface="Oswald"/>
                <a:ea typeface="Oswald"/>
                <a:cs typeface="Oswald"/>
                <a:sym typeface="Oswald"/>
              </a:rPr>
              <a:t>LEGACY SOLUTIONS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6317605" y="2286000"/>
            <a:ext cx="5874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PROJECT DISPATCH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1219200" y="3114675"/>
            <a:ext cx="4848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13 </a:t>
            </a:r>
            <a:r>
              <a:rPr b="1" i="0" lang="en-US" sz="3000" u="none" cap="none" strike="noStrike">
                <a:solidFill>
                  <a:srgbClr val="CC0000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1219200" y="4105275"/>
            <a:ext cx="4848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A5568"/>
                </a:solidFill>
                <a:latin typeface="Inter"/>
                <a:ea typeface="Inter"/>
                <a:cs typeface="Inter"/>
                <a:sym typeface="Inter"/>
              </a:rPr>
              <a:t>Mean response time.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1638300" y="6329957"/>
            <a:ext cx="355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A556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Static, reactive deployment.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6317605" y="3114675"/>
            <a:ext cx="5819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5A623"/>
                </a:solidFill>
                <a:latin typeface="Inter"/>
                <a:ea typeface="Inter"/>
                <a:cs typeface="Inter"/>
                <a:sym typeface="Inter"/>
              </a:rPr>
              <a:t>9.65 </a:t>
            </a:r>
            <a:r>
              <a:rPr b="1" i="0" lang="en-US" sz="3000" u="none" cap="none" strike="noStrike">
                <a:solidFill>
                  <a:srgbClr val="F5A623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317605" y="4105275"/>
            <a:ext cx="581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0AEC0"/>
                </a:solidFill>
                <a:latin typeface="Inter"/>
                <a:ea typeface="Inter"/>
                <a:cs typeface="Inter"/>
                <a:sym typeface="Inter"/>
              </a:rPr>
              <a:t>Mean response time.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708130" y="4914900"/>
            <a:ext cx="435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90% of critical calls reached in </a:t>
            </a:r>
            <a:r>
              <a:rPr b="1" i="0" lang="en-US" sz="2100" u="none" cap="none" strike="noStrike">
                <a:solidFill>
                  <a:srgbClr val="F5A62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 minutes</a:t>
            </a:r>
            <a:r>
              <a:rPr b="1" i="0" lang="en-US" sz="2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708130" y="5912941"/>
            <a:ext cx="4359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Improved coverage in underserved areas. 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/>
          <p:nvPr/>
        </p:nvSpPr>
        <p:spPr>
          <a:xfrm>
            <a:off x="762000" y="742950"/>
            <a:ext cx="304800" cy="304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1219200" y="609600"/>
            <a:ext cx="1700212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THE TEAM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8311975" y="556547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JACOB BARTON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8311975" y="587702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ANALYST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8311975" y="4791900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DOMINIC EASTON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8311975" y="5171100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BUSINESS ANALYST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8311975" y="4074425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HARRY ROWLANDS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8311975" y="3316138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DARRAGH COLEMAN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8311975" y="2561950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FREDERIC TATHAM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8311975" y="1807788"/>
            <a:ext cx="352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B192C"/>
                </a:solidFill>
                <a:latin typeface="Oswald"/>
                <a:ea typeface="Oswald"/>
                <a:cs typeface="Oswald"/>
                <a:sym typeface="Oswald"/>
              </a:rPr>
              <a:t>NAPAT CHOLLABUD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8311975" y="439752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SCIENTIST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8311975" y="3693388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ENGINEER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8311975" y="2139175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DATA ENGINEER</a:t>
            </a:r>
            <a:endParaRPr/>
          </a:p>
        </p:txBody>
      </p:sp>
      <p:sp>
        <p:nvSpPr>
          <p:cNvPr id="206" name="Google Shape;206;p20"/>
          <p:cNvSpPr txBox="1"/>
          <p:nvPr/>
        </p:nvSpPr>
        <p:spPr>
          <a:xfrm>
            <a:off x="8311975" y="2893350"/>
            <a:ext cx="35244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CC0000"/>
                </a:solidFill>
                <a:latin typeface="Oswald"/>
                <a:ea typeface="Oswald"/>
                <a:cs typeface="Oswald"/>
                <a:sym typeface="Oswald"/>
              </a:rPr>
              <a:t>MAINFRAME ANALYST</a:t>
            </a:r>
            <a:endParaRPr/>
          </a:p>
        </p:txBody>
      </p:sp>
      <p:sp>
        <p:nvSpPr>
          <p:cNvPr id="207" name="Google Shape;207;p20"/>
          <p:cNvSpPr/>
          <p:nvPr/>
        </p:nvSpPr>
        <p:spPr>
          <a:xfrm>
            <a:off x="762000" y="1807800"/>
            <a:ext cx="132000" cy="4323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20" title="IMG_4888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94000" y="1807800"/>
            <a:ext cx="6785690" cy="4323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92C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5791200" y="4512766"/>
            <a:ext cx="609600" cy="381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316140" y="1221283"/>
            <a:ext cx="15597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CC00"/>
                </a:solidFill>
                <a:latin typeface="Oswald"/>
                <a:ea typeface="Oswald"/>
                <a:cs typeface="Oswald"/>
                <a:sym typeface="Oswald"/>
              </a:rPr>
              <a:t>THE FUTURE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470296" y="1792783"/>
            <a:ext cx="11251406" cy="22627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BUILDING THE NEXT STANDARD OF URBAN RESPONSE.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4506515" y="4928391"/>
            <a:ext cx="3179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Questions &amp; Discussion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470300" y="5449300"/>
            <a:ext cx="3384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jacob.barton@student.manchester.ac.uk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186350" y="5449300"/>
            <a:ext cx="3644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darragh.coleman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21" name="Google Shape;221;p21"/>
          <p:cNvSpPr txBox="1"/>
          <p:nvPr/>
        </p:nvSpPr>
        <p:spPr>
          <a:xfrm>
            <a:off x="8162200" y="54493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harry.rowlands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22" name="Google Shape;222;p21"/>
          <p:cNvSpPr txBox="1"/>
          <p:nvPr/>
        </p:nvSpPr>
        <p:spPr>
          <a:xfrm>
            <a:off x="470300" y="59892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dominic.easton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4316250" y="59892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napat.chollabud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  <p:sp>
        <p:nvSpPr>
          <p:cNvPr id="224" name="Google Shape;224;p21"/>
          <p:cNvSpPr txBox="1"/>
          <p:nvPr/>
        </p:nvSpPr>
        <p:spPr>
          <a:xfrm>
            <a:off x="8162200" y="5989200"/>
            <a:ext cx="3559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frederic.tatham</a:t>
            </a:r>
            <a:r>
              <a:rPr lang="en-US" sz="1350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@student.manchester.ac.uk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