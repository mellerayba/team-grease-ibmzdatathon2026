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6858000" cx="12192000"/>
  <p:notesSz cx="6858000" cy="9144000"/>
  <p:embeddedFontLst>
    <p:embeddedFont>
      <p:font typeface="Inter"/>
      <p:regular r:id="rId16"/>
      <p:bold r:id="rId17"/>
      <p:italic r:id="rId18"/>
      <p:boldItalic r:id="rId19"/>
    </p:embeddedFont>
    <p:embeddedFont>
      <p:font typeface="Oswald"/>
      <p:regular r:id="rId20"/>
      <p:bold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Oswald-regular.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Oswald-bold.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Inter-bold.fntdata"/><Relationship Id="rId16" Type="http://schemas.openxmlformats.org/officeDocument/2006/relationships/font" Target="fonts/Inter-regular.fntdata"/><Relationship Id="rId5" Type="http://schemas.openxmlformats.org/officeDocument/2006/relationships/notesMaster" Target="notesMasters/notesMaster1.xml"/><Relationship Id="rId19" Type="http://schemas.openxmlformats.org/officeDocument/2006/relationships/font" Target="fonts/Inter-boldItalic.fntdata"/><Relationship Id="rId6" Type="http://schemas.openxmlformats.org/officeDocument/2006/relationships/slide" Target="slides/slide1.xml"/><Relationship Id="rId18" Type="http://schemas.openxmlformats.org/officeDocument/2006/relationships/font" Target="fonts/Inter-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units.we"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Our Datathon Project: aims to find a solution to the high ambulance </a:t>
            </a:r>
            <a:r>
              <a:rPr lang="en-US"/>
              <a:t>response</a:t>
            </a:r>
            <a:r>
              <a:rPr lang="en-US"/>
              <a:t> times in New York City. Worsening response times have caused a decrease by 2% of cardiac arrest revivals and therefore directly causing more deaths. We aim to solve this life or death situation.</a:t>
            </a:r>
            <a:endParaRPr/>
          </a:p>
        </p:txBody>
      </p:sp>
      <p:sp>
        <p:nvSpPr>
          <p:cNvPr id="95" name="Google Shape;9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1400">
                <a:solidFill>
                  <a:srgbClr val="0F172A"/>
                </a:solidFill>
                <a:latin typeface="Arial"/>
                <a:ea typeface="Arial"/>
                <a:cs typeface="Arial"/>
                <a:sym typeface="Arial"/>
              </a:rPr>
              <a:t>Why New York? </a:t>
            </a:r>
            <a:endParaRPr b="1" sz="1400">
              <a:solidFill>
                <a:srgbClr val="0F172A"/>
              </a:solidFill>
              <a:latin typeface="Arial"/>
              <a:ea typeface="Arial"/>
              <a:cs typeface="Arial"/>
              <a:sym typeface="Arial"/>
            </a:endParaRPr>
          </a:p>
          <a:p>
            <a:pPr indent="0" lvl="0" marL="0" rtl="0" algn="l">
              <a:spcBef>
                <a:spcPts val="900"/>
              </a:spcBef>
              <a:spcAft>
                <a:spcPts val="0"/>
              </a:spcAft>
              <a:buNone/>
            </a:pPr>
            <a:r>
              <a:rPr b="1" lang="en-US">
                <a:solidFill>
                  <a:srgbClr val="334155"/>
                </a:solidFill>
                <a:latin typeface="Arial"/>
                <a:ea typeface="Arial"/>
                <a:cs typeface="Arial"/>
                <a:sym typeface="Arial"/>
              </a:rPr>
              <a:t>Most boroughs in new york have over 12 minute response times and there is a large data set from new york including cases where ambulances took too long to respond</a:t>
            </a:r>
            <a:endParaRPr>
              <a:solidFill>
                <a:srgbClr val="334155"/>
              </a:solidFill>
            </a:endParaRPr>
          </a:p>
          <a:p>
            <a:pPr indent="0" lvl="0" marL="0" rtl="0" algn="l">
              <a:spcBef>
                <a:spcPts val="0"/>
              </a:spcBef>
              <a:spcAft>
                <a:spcPts val="0"/>
              </a:spcAft>
              <a:buNone/>
            </a:pPr>
            <a:r>
              <a:t/>
            </a:r>
            <a:endParaRPr/>
          </a:p>
        </p:txBody>
      </p:sp>
      <p:sp>
        <p:nvSpPr>
          <p:cNvPr id="113" name="Google Shape;113;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h56d008257962d348_8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To solve this problem, we have used AI to predict where incidents will occur so that </a:t>
            </a:r>
            <a:r>
              <a:rPr lang="en-US"/>
              <a:t>emergency services can send lightweight vehicles to areas with a high chance of an incident occurring.</a:t>
            </a:r>
            <a:r>
              <a:rPr lang="en-US"/>
              <a:t>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Why 330? About 4600 calls a day with about an hour per job equals 190 busy </a:t>
            </a:r>
            <a:r>
              <a:rPr lang="en-US" u="sng">
                <a:solidFill>
                  <a:schemeClr val="hlink"/>
                </a:solidFill>
                <a:hlinkClick r:id="rId2"/>
              </a:rPr>
              <a:t>units. We</a:t>
            </a:r>
            <a:r>
              <a:rPr lang="en-US"/>
              <a:t> tested multiple instances and discovered the optima numberl was 330  because it provided the best support without diminishing marginal returns.</a:t>
            </a:r>
            <a:endParaRPr/>
          </a:p>
        </p:txBody>
      </p:sp>
      <p:sp>
        <p:nvSpPr>
          <p:cNvPr id="126" name="Google Shape;126;h56d008257962d348_8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h56d008257962d348_8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Curated a dataset from NYC EMS calls, weather, census and hospital data based on zip code. A model predicts expected incidents in the next half an hour based on recent calls. Using this data, an algorithm decides the best routes for each unit, this output is translated to human-understandable instructions with a granite LLM. The model is then tested using 2022 data against a static model, achieving improvements in critical calls and in average response times.</a:t>
            </a:r>
            <a:endParaRPr/>
          </a:p>
        </p:txBody>
      </p:sp>
      <p:sp>
        <p:nvSpPr>
          <p:cNvPr id="148" name="Google Shape;148;h56d008257962d348_8_3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56d008257962d348_42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h56d008257962d348_42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Everything we built runs on one IBM LinuxONE instance: s390x under z/VM, with three CPUs and eight gigabytes of memory. On that base sit Python, pandas and LightGBM for the forecast, our own positioning policy and replay, and a React map for the demo. Because the instance is small, we built the pipeline to fit it: two years of data peak at one gigabyte. Because s390x is big-endian, we save models as portable text files. We also tested the on-chip AI accelerator, nnpa, through Snap ML. It worked, but ran slower than the CPU and did not match our model's predictions, so we kept the CPU path. All thirty-three tests pass on the instance.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Here is the UI for our live demo, which you will see shortly.</a:t>
            </a:r>
            <a:endParaRPr/>
          </a:p>
        </p:txBody>
      </p:sp>
      <p:sp>
        <p:nvSpPr>
          <p:cNvPr id="200" name="Google Shape;20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h56d008257962d348_8_2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Old solutions have a mean response time of 13 minutes, </a:t>
            </a:r>
            <a:r>
              <a:rPr lang="en-US"/>
              <a:t>with</a:t>
            </a:r>
            <a:r>
              <a:rPr lang="en-US"/>
              <a:t> our model, we managed to get an average response time of 9.65 minutes. With 90% of critical calls reached in 8 minutes and improved coverage in underserved areas.</a:t>
            </a:r>
            <a:endParaRPr/>
          </a:p>
        </p:txBody>
      </p:sp>
      <p:sp>
        <p:nvSpPr>
          <p:cNvPr id="213" name="Google Shape;213;h56d008257962d348_8_2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We delegated tasks to our six members, focusing on the 3 elements of the project: prediction model, routing algorithm and simulation demo. Some of our members also worked on the deck and project background.</a:t>
            </a:r>
            <a:endParaRPr/>
          </a:p>
        </p:txBody>
      </p:sp>
      <p:sp>
        <p:nvSpPr>
          <p:cNvPr id="233" name="Google Shape;233;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92C"/>
        </a:solidFill>
      </p:bgPr>
    </p:bg>
    <p:spTree>
      <p:nvGrpSpPr>
        <p:cNvPr id="83" name="Shape 83"/>
        <p:cNvGrpSpPr/>
        <p:nvPr/>
      </p:nvGrpSpPr>
      <p:grpSpPr>
        <a:xfrm>
          <a:off x="0" y="0"/>
          <a:ext cx="0" cy="0"/>
          <a:chOff x="0" y="0"/>
          <a:chExt cx="0" cy="0"/>
        </a:xfrm>
      </p:grpSpPr>
      <p:sp>
        <p:nvSpPr>
          <p:cNvPr id="84" name="Google Shape;84;p13"/>
          <p:cNvSpPr/>
          <p:nvPr/>
        </p:nvSpPr>
        <p:spPr>
          <a:xfrm>
            <a:off x="609600" y="5133975"/>
            <a:ext cx="762000" cy="5715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3"/>
          <p:cNvSpPr/>
          <p:nvPr/>
        </p:nvSpPr>
        <p:spPr>
          <a:xfrm>
            <a:off x="0" y="0"/>
            <a:ext cx="4344739" cy="1524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p:nvPr/>
        </p:nvSpPr>
        <p:spPr>
          <a:xfrm>
            <a:off x="4344739" y="0"/>
            <a:ext cx="1861988" cy="152400"/>
          </a:xfrm>
          <a:prstGeom prst="rect">
            <a:avLst/>
          </a:prstGeom>
          <a:solidFill>
            <a:srgbClr val="FFCC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87" name="Google Shape;87;p13"/>
          <p:cNvPicPr preferRelativeResize="0"/>
          <p:nvPr/>
        </p:nvPicPr>
        <p:blipFill rotWithShape="1">
          <a:blip r:embed="rId3">
            <a:alphaModFix/>
          </a:blip>
          <a:srcRect b="0" l="0" r="0" t="0"/>
          <a:stretch/>
        </p:blipFill>
        <p:spPr>
          <a:xfrm>
            <a:off x="6206876" y="0"/>
            <a:ext cx="5985123" cy="6858000"/>
          </a:xfrm>
          <a:prstGeom prst="rect">
            <a:avLst/>
          </a:prstGeom>
          <a:noFill/>
          <a:ln>
            <a:noFill/>
          </a:ln>
        </p:spPr>
      </p:pic>
      <p:pic>
        <p:nvPicPr>
          <p:cNvPr descr="image.png" id="88" name="Google Shape;88;p13"/>
          <p:cNvPicPr preferRelativeResize="0"/>
          <p:nvPr/>
        </p:nvPicPr>
        <p:blipFill rotWithShape="1">
          <a:blip r:embed="rId4">
            <a:alphaModFix/>
          </a:blip>
          <a:srcRect b="0" l="0" r="0" t="0"/>
          <a:stretch/>
        </p:blipFill>
        <p:spPr>
          <a:xfrm>
            <a:off x="0" y="0"/>
            <a:ext cx="6206876" cy="152400"/>
          </a:xfrm>
          <a:prstGeom prst="rect">
            <a:avLst/>
          </a:prstGeom>
          <a:noFill/>
          <a:ln>
            <a:noFill/>
          </a:ln>
        </p:spPr>
      </p:pic>
      <p:pic>
        <p:nvPicPr>
          <p:cNvPr descr="image.png" id="89" name="Google Shape;89;p13"/>
          <p:cNvPicPr preferRelativeResize="0"/>
          <p:nvPr/>
        </p:nvPicPr>
        <p:blipFill rotWithShape="1">
          <a:blip r:embed="rId5">
            <a:alphaModFix/>
          </a:blip>
          <a:srcRect b="0" l="0" r="0" t="0"/>
          <a:stretch/>
        </p:blipFill>
        <p:spPr>
          <a:xfrm>
            <a:off x="6206876" y="0"/>
            <a:ext cx="5985123" cy="6858000"/>
          </a:xfrm>
          <a:prstGeom prst="rect">
            <a:avLst/>
          </a:prstGeom>
          <a:noFill/>
          <a:ln>
            <a:noFill/>
          </a:ln>
        </p:spPr>
      </p:pic>
      <p:sp>
        <p:nvSpPr>
          <p:cNvPr id="90" name="Google Shape;90;p13"/>
          <p:cNvSpPr txBox="1"/>
          <p:nvPr/>
        </p:nvSpPr>
        <p:spPr>
          <a:xfrm>
            <a:off x="609600" y="1666875"/>
            <a:ext cx="62346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FFCC00"/>
                </a:solidFill>
                <a:latin typeface="Oswald"/>
                <a:ea typeface="Oswald"/>
                <a:cs typeface="Oswald"/>
                <a:sym typeface="Oswald"/>
              </a:rPr>
              <a:t>IBM Z Datathon: Theme 3 - Wildcard</a:t>
            </a:r>
            <a:endParaRPr sz="1350">
              <a:solidFill>
                <a:srgbClr val="FFCC00"/>
              </a:solidFill>
              <a:latin typeface="Oswald"/>
              <a:ea typeface="Oswald"/>
              <a:cs typeface="Oswald"/>
              <a:sym typeface="Oswald"/>
            </a:endParaRPr>
          </a:p>
        </p:txBody>
      </p:sp>
      <p:sp>
        <p:nvSpPr>
          <p:cNvPr id="91" name="Google Shape;91;p13"/>
          <p:cNvSpPr txBox="1"/>
          <p:nvPr/>
        </p:nvSpPr>
        <p:spPr>
          <a:xfrm>
            <a:off x="609600" y="2143125"/>
            <a:ext cx="5337073" cy="1676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6000" u="none" cap="none" strike="noStrike">
                <a:solidFill>
                  <a:srgbClr val="FFFFFF"/>
                </a:solidFill>
                <a:latin typeface="Oswald"/>
                <a:ea typeface="Oswald"/>
                <a:cs typeface="Oswald"/>
                <a:sym typeface="Oswald"/>
              </a:rPr>
              <a:t>PROJECT</a:t>
            </a:r>
            <a:br>
              <a:rPr b="0" i="0" lang="en-US" sz="1800" u="none" cap="none" strike="noStrike">
                <a:solidFill>
                  <a:schemeClr val="dk1"/>
                </a:solidFill>
                <a:latin typeface="Calibri"/>
                <a:ea typeface="Calibri"/>
                <a:cs typeface="Calibri"/>
                <a:sym typeface="Calibri"/>
              </a:rPr>
            </a:br>
            <a:r>
              <a:rPr b="1" i="0" lang="en-US" sz="6000" u="none" cap="none" strike="noStrike">
                <a:solidFill>
                  <a:srgbClr val="FFFFFF"/>
                </a:solidFill>
                <a:latin typeface="Oswald"/>
                <a:ea typeface="Oswald"/>
                <a:cs typeface="Oswald"/>
                <a:sym typeface="Oswald"/>
              </a:rPr>
              <a:t> DISPATCH</a:t>
            </a:r>
            <a:endParaRPr/>
          </a:p>
        </p:txBody>
      </p:sp>
      <p:sp>
        <p:nvSpPr>
          <p:cNvPr id="92" name="Google Shape;92;p13"/>
          <p:cNvSpPr txBox="1"/>
          <p:nvPr/>
        </p:nvSpPr>
        <p:spPr>
          <a:xfrm>
            <a:off x="609600" y="4124325"/>
            <a:ext cx="39054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CBD5E1"/>
                </a:solidFill>
                <a:latin typeface="Inter"/>
                <a:ea typeface="Inter"/>
                <a:cs typeface="Inter"/>
                <a:sym typeface="Inter"/>
              </a:rPr>
              <a:t>A solution to New York EMS response times.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14"/>
          <p:cNvSpPr/>
          <p:nvPr/>
        </p:nvSpPr>
        <p:spPr>
          <a:xfrm>
            <a:off x="762000" y="742950"/>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 name="Google Shape;98;p14"/>
          <p:cNvSpPr/>
          <p:nvPr/>
        </p:nvSpPr>
        <p:spPr>
          <a:xfrm>
            <a:off x="762000" y="4457549"/>
            <a:ext cx="57300" cy="924600"/>
          </a:xfrm>
          <a:prstGeom prst="rect">
            <a:avLst/>
          </a:prstGeom>
          <a:solidFill>
            <a:srgbClr val="FFCC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4"/>
          <p:cNvSpPr/>
          <p:nvPr/>
        </p:nvSpPr>
        <p:spPr>
          <a:xfrm>
            <a:off x="6472275" y="1912275"/>
            <a:ext cx="4953000" cy="1385400"/>
          </a:xfrm>
          <a:prstGeom prst="rect">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 name="Google Shape;100;p14"/>
          <p:cNvSpPr/>
          <p:nvPr/>
        </p:nvSpPr>
        <p:spPr>
          <a:xfrm>
            <a:off x="6472275" y="3811225"/>
            <a:ext cx="4953000" cy="1710600"/>
          </a:xfrm>
          <a:prstGeom prst="rect">
            <a:avLst/>
          </a:prstGeom>
          <a:solidFill>
            <a:srgbClr val="F8FAF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 name="Google Shape;101;p14"/>
          <p:cNvSpPr/>
          <p:nvPr/>
        </p:nvSpPr>
        <p:spPr>
          <a:xfrm>
            <a:off x="6472275" y="1912275"/>
            <a:ext cx="57300" cy="1385400"/>
          </a:xfrm>
          <a:prstGeom prst="rect">
            <a:avLst/>
          </a:prstGeom>
          <a:solidFill>
            <a:srgbClr val="0B192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4"/>
          <p:cNvSpPr/>
          <p:nvPr/>
        </p:nvSpPr>
        <p:spPr>
          <a:xfrm>
            <a:off x="6472275" y="3811225"/>
            <a:ext cx="57300" cy="1710600"/>
          </a:xfrm>
          <a:prstGeom prst="rect">
            <a:avLst/>
          </a:prstGeom>
          <a:solidFill>
            <a:srgbClr val="0B192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14"/>
          <p:cNvSpPr txBox="1"/>
          <p:nvPr/>
        </p:nvSpPr>
        <p:spPr>
          <a:xfrm>
            <a:off x="1219200" y="609600"/>
            <a:ext cx="2435304"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B192C"/>
                </a:solidFill>
                <a:latin typeface="Oswald"/>
                <a:ea typeface="Oswald"/>
                <a:cs typeface="Oswald"/>
                <a:sym typeface="Oswald"/>
              </a:rPr>
              <a:t>THE PROBLEM</a:t>
            </a:r>
            <a:endParaRPr/>
          </a:p>
        </p:txBody>
      </p:sp>
      <p:sp>
        <p:nvSpPr>
          <p:cNvPr id="104" name="Google Shape;104;p14"/>
          <p:cNvSpPr txBox="1"/>
          <p:nvPr/>
        </p:nvSpPr>
        <p:spPr>
          <a:xfrm>
            <a:off x="757275" y="2119600"/>
            <a:ext cx="5353200" cy="138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9000">
                <a:solidFill>
                  <a:srgbClr val="CC0000"/>
                </a:solidFill>
                <a:latin typeface="Oswald"/>
                <a:ea typeface="Oswald"/>
                <a:cs typeface="Oswald"/>
                <a:sym typeface="Oswald"/>
              </a:rPr>
              <a:t>13 minutes</a:t>
            </a:r>
            <a:endParaRPr/>
          </a:p>
        </p:txBody>
      </p:sp>
      <p:sp>
        <p:nvSpPr>
          <p:cNvPr id="105" name="Google Shape;105;p14"/>
          <p:cNvSpPr txBox="1"/>
          <p:nvPr/>
        </p:nvSpPr>
        <p:spPr>
          <a:xfrm>
            <a:off x="757275" y="3415004"/>
            <a:ext cx="5300700" cy="812700"/>
          </a:xfrm>
          <a:prstGeom prst="rect">
            <a:avLst/>
          </a:prstGeom>
          <a:noFill/>
          <a:ln>
            <a:noFill/>
          </a:ln>
        </p:spPr>
        <p:txBody>
          <a:bodyPr anchorCtr="0" anchor="t" bIns="0" lIns="0" spcFirstLastPara="1" rIns="0" wrap="square" tIns="0">
            <a:spAutoFit/>
          </a:bodyPr>
          <a:lstStyle/>
          <a:p>
            <a:pPr indent="0" lvl="0" marL="0" marR="0" rtl="0" algn="l">
              <a:lnSpc>
                <a:spcPct val="119958"/>
              </a:lnSpc>
              <a:spcBef>
                <a:spcPts val="0"/>
              </a:spcBef>
              <a:spcAft>
                <a:spcPts val="0"/>
              </a:spcAft>
              <a:buNone/>
            </a:pPr>
            <a:r>
              <a:rPr b="1" lang="en-US" sz="2400">
                <a:solidFill>
                  <a:srgbClr val="0B192C"/>
                </a:solidFill>
                <a:latin typeface="Oswald"/>
                <a:ea typeface="Oswald"/>
                <a:cs typeface="Oswald"/>
                <a:sym typeface="Oswald"/>
              </a:rPr>
              <a:t>AVERAGE URGENT CARE AMBULANCE RESPONSE TIME IN NEW YORK</a:t>
            </a:r>
            <a:endParaRPr/>
          </a:p>
        </p:txBody>
      </p:sp>
      <p:sp>
        <p:nvSpPr>
          <p:cNvPr id="106" name="Google Shape;106;p14"/>
          <p:cNvSpPr txBox="1"/>
          <p:nvPr/>
        </p:nvSpPr>
        <p:spPr>
          <a:xfrm>
            <a:off x="947775" y="4538845"/>
            <a:ext cx="4857900" cy="762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650" u="none" cap="none" strike="noStrike">
                <a:solidFill>
                  <a:srgbClr val="475569"/>
                </a:solidFill>
                <a:latin typeface="Inter"/>
                <a:ea typeface="Inter"/>
                <a:cs typeface="Inter"/>
                <a:sym typeface="Inter"/>
              </a:rPr>
              <a:t>Legacy infrastructure cannot handle the low staffing and high call volume especially in underserved </a:t>
            </a:r>
            <a:r>
              <a:rPr lang="en-US" sz="1650">
                <a:solidFill>
                  <a:srgbClr val="475569"/>
                </a:solidFill>
                <a:latin typeface="Inter"/>
                <a:ea typeface="Inter"/>
                <a:cs typeface="Inter"/>
                <a:sym typeface="Inter"/>
              </a:rPr>
              <a:t>boroughs</a:t>
            </a:r>
            <a:r>
              <a:rPr b="0" i="0" lang="en-US" sz="1650" u="none" cap="none" strike="noStrike">
                <a:solidFill>
                  <a:srgbClr val="475569"/>
                </a:solidFill>
                <a:latin typeface="Inter"/>
                <a:ea typeface="Inter"/>
                <a:cs typeface="Inter"/>
                <a:sym typeface="Inter"/>
              </a:rPr>
              <a:t>.</a:t>
            </a:r>
            <a:endParaRPr/>
          </a:p>
        </p:txBody>
      </p:sp>
      <p:sp>
        <p:nvSpPr>
          <p:cNvPr id="107" name="Google Shape;107;p14"/>
          <p:cNvSpPr txBox="1"/>
          <p:nvPr/>
        </p:nvSpPr>
        <p:spPr>
          <a:xfrm>
            <a:off x="6834218" y="2119600"/>
            <a:ext cx="4600500" cy="5541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800">
                <a:solidFill>
                  <a:srgbClr val="333333"/>
                </a:solidFill>
                <a:highlight>
                  <a:srgbClr val="FFFFFF"/>
                </a:highlight>
                <a:latin typeface="Oswald"/>
                <a:ea typeface="Oswald"/>
                <a:cs typeface="Oswald"/>
                <a:sym typeface="Oswald"/>
              </a:rPr>
              <a:t>"PEOPLE ARE DYING BECAUSE THERE ARE NO STAFF,"</a:t>
            </a:r>
            <a:r>
              <a:rPr b="1" lang="en-US" sz="1800">
                <a:solidFill>
                  <a:schemeClr val="dk1"/>
                </a:solidFill>
                <a:latin typeface="Oswald"/>
                <a:ea typeface="Oswald"/>
                <a:cs typeface="Oswald"/>
                <a:sym typeface="Oswald"/>
              </a:rPr>
              <a:t> </a:t>
            </a:r>
            <a:endParaRPr b="1" sz="1800">
              <a:latin typeface="Oswald"/>
              <a:ea typeface="Oswald"/>
              <a:cs typeface="Oswald"/>
              <a:sym typeface="Oswald"/>
            </a:endParaRPr>
          </a:p>
        </p:txBody>
      </p:sp>
      <p:sp>
        <p:nvSpPr>
          <p:cNvPr id="108" name="Google Shape;108;p14"/>
          <p:cNvSpPr txBox="1"/>
          <p:nvPr/>
        </p:nvSpPr>
        <p:spPr>
          <a:xfrm>
            <a:off x="6834225" y="2791600"/>
            <a:ext cx="46005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333333"/>
                </a:solidFill>
                <a:highlight>
                  <a:srgbClr val="FFFFFF"/>
                </a:highlight>
                <a:latin typeface="Inter"/>
                <a:ea typeface="Inter"/>
                <a:cs typeface="Inter"/>
                <a:sym typeface="Inter"/>
              </a:rPr>
              <a:t>Anthony Almojera, a lieutenant paramedi</a:t>
            </a:r>
            <a:r>
              <a:rPr lang="en-US" sz="1350">
                <a:solidFill>
                  <a:schemeClr val="dk1"/>
                </a:solidFill>
                <a:latin typeface="Inter"/>
                <a:ea typeface="Inter"/>
                <a:cs typeface="Inter"/>
                <a:sym typeface="Inter"/>
              </a:rPr>
              <a:t>c </a:t>
            </a:r>
            <a:r>
              <a:rPr lang="en-US" sz="1350">
                <a:solidFill>
                  <a:schemeClr val="dk1"/>
                </a:solidFill>
                <a:latin typeface="Inter"/>
                <a:ea typeface="Inter"/>
                <a:cs typeface="Inter"/>
                <a:sym typeface="Inter"/>
              </a:rPr>
              <a:t>recognising</a:t>
            </a:r>
            <a:r>
              <a:rPr lang="en-US" sz="1350">
                <a:solidFill>
                  <a:schemeClr val="dk1"/>
                </a:solidFill>
                <a:latin typeface="Inter"/>
                <a:ea typeface="Inter"/>
                <a:cs typeface="Inter"/>
                <a:sym typeface="Inter"/>
              </a:rPr>
              <a:t> the ever </a:t>
            </a:r>
            <a:r>
              <a:rPr lang="en-US" sz="1350">
                <a:solidFill>
                  <a:schemeClr val="dk1"/>
                </a:solidFill>
                <a:latin typeface="Inter"/>
                <a:ea typeface="Inter"/>
                <a:cs typeface="Inter"/>
                <a:sym typeface="Inter"/>
              </a:rPr>
              <a:t>increasing</a:t>
            </a:r>
            <a:r>
              <a:rPr lang="en-US" sz="1350">
                <a:solidFill>
                  <a:schemeClr val="dk1"/>
                </a:solidFill>
                <a:latin typeface="Inter"/>
                <a:ea typeface="Inter"/>
                <a:cs typeface="Inter"/>
                <a:sym typeface="Inter"/>
              </a:rPr>
              <a:t> callout time</a:t>
            </a:r>
            <a:r>
              <a:rPr i="0" lang="en-US" sz="1350" u="none" cap="none" strike="noStrike">
                <a:solidFill>
                  <a:srgbClr val="334155"/>
                </a:solidFill>
                <a:latin typeface="Inter"/>
                <a:ea typeface="Inter"/>
                <a:cs typeface="Inter"/>
                <a:sym typeface="Inter"/>
              </a:rPr>
              <a:t>.</a:t>
            </a:r>
            <a:endParaRPr sz="1350">
              <a:latin typeface="Inter"/>
              <a:ea typeface="Inter"/>
              <a:cs typeface="Inter"/>
              <a:sym typeface="Inter"/>
            </a:endParaRPr>
          </a:p>
        </p:txBody>
      </p:sp>
      <p:sp>
        <p:nvSpPr>
          <p:cNvPr id="109" name="Google Shape;109;p14"/>
          <p:cNvSpPr txBox="1"/>
          <p:nvPr/>
        </p:nvSpPr>
        <p:spPr>
          <a:xfrm>
            <a:off x="6745143" y="3984750"/>
            <a:ext cx="4600500" cy="8313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1100"/>
              <a:buFont typeface="Arial"/>
              <a:buNone/>
            </a:pPr>
            <a:r>
              <a:rPr b="1" lang="en-US" sz="1800">
                <a:solidFill>
                  <a:srgbClr val="333333"/>
                </a:solidFill>
                <a:highlight>
                  <a:schemeClr val="lt1"/>
                </a:highlight>
                <a:latin typeface="Oswald"/>
                <a:ea typeface="Oswald"/>
                <a:cs typeface="Oswald"/>
                <a:sym typeface="Oswald"/>
              </a:rPr>
              <a:t>"CLIMATE PROJECTIONS FOR NEW YORK CITY SHOWS SOME OF THE STATE’S LARGEST INCREASE IN EXTREME HEAT,"</a:t>
            </a:r>
            <a:r>
              <a:rPr b="1" lang="en-US" sz="1800">
                <a:solidFill>
                  <a:schemeClr val="dk1"/>
                </a:solidFill>
                <a:latin typeface="Oswald"/>
                <a:ea typeface="Oswald"/>
                <a:cs typeface="Oswald"/>
                <a:sym typeface="Oswald"/>
              </a:rPr>
              <a:t> </a:t>
            </a:r>
            <a:endParaRPr b="1" sz="1800">
              <a:solidFill>
                <a:schemeClr val="dk1"/>
              </a:solidFill>
              <a:latin typeface="Oswald"/>
              <a:ea typeface="Oswald"/>
              <a:cs typeface="Oswald"/>
              <a:sym typeface="Oswald"/>
            </a:endParaRPr>
          </a:p>
        </p:txBody>
      </p:sp>
      <p:sp>
        <p:nvSpPr>
          <p:cNvPr id="110" name="Google Shape;110;p14"/>
          <p:cNvSpPr txBox="1"/>
          <p:nvPr/>
        </p:nvSpPr>
        <p:spPr>
          <a:xfrm>
            <a:off x="6745150" y="4966645"/>
            <a:ext cx="48579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475569"/>
                </a:solidFill>
                <a:latin typeface="Inter"/>
                <a:ea typeface="Inter"/>
                <a:cs typeface="Inter"/>
                <a:sym typeface="Inter"/>
              </a:rPr>
              <a:t>Climate change is creating more drastic weather, which effects the most vulnerable people.</a:t>
            </a:r>
            <a:endParaRPr sz="135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 name="Shape 114"/>
        <p:cNvGrpSpPr/>
        <p:nvPr/>
      </p:nvGrpSpPr>
      <p:grpSpPr>
        <a:xfrm>
          <a:off x="0" y="0"/>
          <a:ext cx="0" cy="0"/>
          <a:chOff x="0" y="0"/>
          <a:chExt cx="0" cy="0"/>
        </a:xfrm>
      </p:grpSpPr>
      <p:sp>
        <p:nvSpPr>
          <p:cNvPr id="115" name="Google Shape;115;p15"/>
          <p:cNvSpPr/>
          <p:nvPr/>
        </p:nvSpPr>
        <p:spPr>
          <a:xfrm>
            <a:off x="609600" y="743529"/>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 name="Google Shape;116;p15"/>
          <p:cNvSpPr txBox="1"/>
          <p:nvPr/>
        </p:nvSpPr>
        <p:spPr>
          <a:xfrm>
            <a:off x="609600" y="2003992"/>
            <a:ext cx="4100400" cy="1163400"/>
          </a:xfrm>
          <a:prstGeom prst="rect">
            <a:avLst/>
          </a:prstGeom>
          <a:noFill/>
          <a:ln>
            <a:noFill/>
          </a:ln>
        </p:spPr>
        <p:txBody>
          <a:bodyPr anchorCtr="0" anchor="t" bIns="0" lIns="0" spcFirstLastPara="1" rIns="0" wrap="square" tIns="0">
            <a:spAutoFit/>
          </a:bodyPr>
          <a:lstStyle/>
          <a:p>
            <a:pPr indent="0" lvl="0" marL="0" marR="0" rtl="0" algn="l">
              <a:lnSpc>
                <a:spcPct val="129952"/>
              </a:lnSpc>
              <a:spcBef>
                <a:spcPts val="0"/>
              </a:spcBef>
              <a:spcAft>
                <a:spcPts val="0"/>
              </a:spcAft>
              <a:buNone/>
            </a:pPr>
            <a:r>
              <a:rPr b="1" i="0" lang="en-US" sz="2100" u="none" cap="none" strike="noStrike">
                <a:solidFill>
                  <a:srgbClr val="0B192C"/>
                </a:solidFill>
                <a:latin typeface="Oswald"/>
                <a:ea typeface="Oswald"/>
                <a:cs typeface="Oswald"/>
                <a:sym typeface="Oswald"/>
              </a:rPr>
              <a:t>PRIMARY ADOPTION FOCUSED ON DENSE METROPOLITAN REGIONS -</a:t>
            </a:r>
            <a:r>
              <a:rPr b="1" lang="en-US" sz="2100">
                <a:solidFill>
                  <a:srgbClr val="0B192C"/>
                </a:solidFill>
                <a:latin typeface="Oswald"/>
                <a:ea typeface="Oswald"/>
                <a:cs typeface="Oswald"/>
                <a:sym typeface="Oswald"/>
              </a:rPr>
              <a:t> </a:t>
            </a:r>
            <a:r>
              <a:rPr b="1" i="0" lang="en-US" sz="2100" u="none" cap="none" strike="noStrike">
                <a:solidFill>
                  <a:srgbClr val="0B192C"/>
                </a:solidFill>
                <a:latin typeface="Oswald"/>
                <a:ea typeface="Oswald"/>
                <a:cs typeface="Oswald"/>
                <a:sym typeface="Oswald"/>
              </a:rPr>
              <a:t>OUR TARGET BEING NYC </a:t>
            </a:r>
            <a:endParaRPr b="1" sz="2100">
              <a:solidFill>
                <a:srgbClr val="0B192C"/>
              </a:solidFill>
              <a:latin typeface="Oswald"/>
              <a:ea typeface="Oswald"/>
              <a:cs typeface="Oswald"/>
              <a:sym typeface="Oswald"/>
            </a:endParaRPr>
          </a:p>
        </p:txBody>
      </p:sp>
      <p:sp>
        <p:nvSpPr>
          <p:cNvPr id="117" name="Google Shape;117;p15"/>
          <p:cNvSpPr txBox="1"/>
          <p:nvPr/>
        </p:nvSpPr>
        <p:spPr>
          <a:xfrm>
            <a:off x="1066800" y="610179"/>
            <a:ext cx="46506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B192C"/>
                </a:solidFill>
                <a:latin typeface="Oswald"/>
                <a:ea typeface="Oswald"/>
                <a:cs typeface="Oswald"/>
                <a:sym typeface="Oswald"/>
              </a:rPr>
              <a:t>THE TARGET DEMOGRAPHIC</a:t>
            </a:r>
            <a:endParaRPr/>
          </a:p>
        </p:txBody>
      </p:sp>
      <p:sp>
        <p:nvSpPr>
          <p:cNvPr id="118" name="Google Shape;118;p15"/>
          <p:cNvSpPr txBox="1"/>
          <p:nvPr/>
        </p:nvSpPr>
        <p:spPr>
          <a:xfrm>
            <a:off x="609600" y="3898720"/>
            <a:ext cx="68580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4800">
                <a:solidFill>
                  <a:srgbClr val="CC0000"/>
                </a:solidFill>
                <a:latin typeface="Oswald"/>
                <a:ea typeface="Oswald"/>
                <a:cs typeface="Oswald"/>
                <a:sym typeface="Oswald"/>
              </a:rPr>
              <a:t>490,000</a:t>
            </a:r>
            <a:endParaRPr/>
          </a:p>
        </p:txBody>
      </p:sp>
      <p:sp>
        <p:nvSpPr>
          <p:cNvPr id="119" name="Google Shape;119;p15"/>
          <p:cNvSpPr txBox="1"/>
          <p:nvPr/>
        </p:nvSpPr>
        <p:spPr>
          <a:xfrm>
            <a:off x="609600" y="4508320"/>
            <a:ext cx="68580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500">
                <a:solidFill>
                  <a:srgbClr val="475569"/>
                </a:solidFill>
                <a:latin typeface="Inter"/>
                <a:ea typeface="Inter"/>
                <a:cs typeface="Inter"/>
                <a:sym typeface="Inter"/>
              </a:rPr>
              <a:t>VEHICLES </a:t>
            </a:r>
            <a:endParaRPr/>
          </a:p>
        </p:txBody>
      </p:sp>
      <p:sp>
        <p:nvSpPr>
          <p:cNvPr id="120" name="Google Shape;120;p15"/>
          <p:cNvSpPr txBox="1"/>
          <p:nvPr/>
        </p:nvSpPr>
        <p:spPr>
          <a:xfrm>
            <a:off x="609600" y="5041720"/>
            <a:ext cx="68580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4800">
                <a:solidFill>
                  <a:srgbClr val="0B192C"/>
                </a:solidFill>
                <a:latin typeface="Oswald"/>
                <a:ea typeface="Oswald"/>
                <a:cs typeface="Oswald"/>
                <a:sym typeface="Oswald"/>
              </a:rPr>
              <a:t>8</a:t>
            </a:r>
            <a:r>
              <a:rPr b="1" i="0" lang="en-US" sz="4800" u="none" cap="none" strike="noStrike">
                <a:solidFill>
                  <a:srgbClr val="0B192C"/>
                </a:solidFill>
                <a:latin typeface="Oswald"/>
                <a:ea typeface="Oswald"/>
                <a:cs typeface="Oswald"/>
                <a:sym typeface="Oswald"/>
              </a:rPr>
              <a:t>.8M</a:t>
            </a:r>
            <a:endParaRPr/>
          </a:p>
        </p:txBody>
      </p:sp>
      <p:sp>
        <p:nvSpPr>
          <p:cNvPr id="121" name="Google Shape;121;p15"/>
          <p:cNvSpPr txBox="1"/>
          <p:nvPr/>
        </p:nvSpPr>
        <p:spPr>
          <a:xfrm>
            <a:off x="609600" y="5651320"/>
            <a:ext cx="68580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500">
                <a:solidFill>
                  <a:srgbClr val="475569"/>
                </a:solidFill>
                <a:latin typeface="Inter"/>
                <a:ea typeface="Inter"/>
                <a:cs typeface="Inter"/>
                <a:sym typeface="Inter"/>
              </a:rPr>
              <a:t>NYC POPULATION</a:t>
            </a:r>
            <a:endParaRPr/>
          </a:p>
        </p:txBody>
      </p:sp>
      <p:pic>
        <p:nvPicPr>
          <p:cNvPr id="122" name="Google Shape;122;p15" title="Screenshot 2026-10-17 at 14.55.31.png"/>
          <p:cNvPicPr preferRelativeResize="0"/>
          <p:nvPr/>
        </p:nvPicPr>
        <p:blipFill rotWithShape="1">
          <a:blip r:embed="rId3">
            <a:alphaModFix/>
          </a:blip>
          <a:srcRect b="0" l="0" r="0" t="8900"/>
          <a:stretch/>
        </p:blipFill>
        <p:spPr>
          <a:xfrm>
            <a:off x="6537525" y="1025200"/>
            <a:ext cx="5654475" cy="5996051"/>
          </a:xfrm>
          <a:prstGeom prst="rect">
            <a:avLst/>
          </a:prstGeom>
          <a:noFill/>
          <a:ln>
            <a:noFill/>
          </a:ln>
        </p:spPr>
      </p:pic>
      <p:pic>
        <p:nvPicPr>
          <p:cNvPr id="123" name="Google Shape;123;p15"/>
          <p:cNvPicPr preferRelativeResize="0"/>
          <p:nvPr/>
        </p:nvPicPr>
        <p:blipFill rotWithShape="1">
          <a:blip r:embed="rId4">
            <a:alphaModFix/>
          </a:blip>
          <a:srcRect b="32314" l="7340" r="4016" t="32922"/>
          <a:stretch/>
        </p:blipFill>
        <p:spPr>
          <a:xfrm>
            <a:off x="7070485" y="0"/>
            <a:ext cx="5053791" cy="104832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5F6"/>
        </a:solidFill>
      </p:bgPr>
    </p:bg>
    <p:spTree>
      <p:nvGrpSpPr>
        <p:cNvPr id="127" name="Shape 127"/>
        <p:cNvGrpSpPr/>
        <p:nvPr/>
      </p:nvGrpSpPr>
      <p:grpSpPr>
        <a:xfrm>
          <a:off x="0" y="0"/>
          <a:ext cx="0" cy="0"/>
          <a:chOff x="0" y="0"/>
          <a:chExt cx="0" cy="0"/>
        </a:xfrm>
      </p:grpSpPr>
      <p:sp>
        <p:nvSpPr>
          <p:cNvPr id="128" name="Google Shape;128;p16"/>
          <p:cNvSpPr/>
          <p:nvPr/>
        </p:nvSpPr>
        <p:spPr>
          <a:xfrm>
            <a:off x="762000" y="762000"/>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16"/>
          <p:cNvSpPr/>
          <p:nvPr/>
        </p:nvSpPr>
        <p:spPr>
          <a:xfrm>
            <a:off x="762000" y="1488425"/>
            <a:ext cx="4916100" cy="2421300"/>
          </a:xfrm>
          <a:prstGeom prst="roundRect">
            <a:avLst>
              <a:gd fmla="val 2841" name="adj"/>
            </a:avLst>
          </a:prstGeom>
          <a:solidFill>
            <a:srgbClr val="FFFFFF"/>
          </a:solidFill>
          <a:ln>
            <a:noFill/>
          </a:ln>
        </p:spPr>
        <p:txBody>
          <a:bodyPr anchorCtr="0" anchor="ctr" bIns="41250" lIns="82550" spcFirstLastPara="1" rIns="82550" wrap="square" tIns="41250">
            <a:noAutofit/>
          </a:bodyPr>
          <a:lstStyle/>
          <a:p>
            <a:pPr indent="0" lvl="0" marL="0" marR="0" rtl="0" algn="ctr">
              <a:spcBef>
                <a:spcPts val="0"/>
              </a:spcBef>
              <a:spcAft>
                <a:spcPts val="0"/>
              </a:spcAft>
              <a:buNone/>
            </a:pPr>
            <a:r>
              <a:t/>
            </a:r>
            <a:endParaRPr b="0" i="0" sz="1625" u="none" cap="none" strike="noStrike">
              <a:solidFill>
                <a:schemeClr val="dk1"/>
              </a:solidFill>
              <a:latin typeface="Calibri"/>
              <a:ea typeface="Calibri"/>
              <a:cs typeface="Calibri"/>
              <a:sym typeface="Calibri"/>
            </a:endParaRPr>
          </a:p>
        </p:txBody>
      </p:sp>
      <p:sp>
        <p:nvSpPr>
          <p:cNvPr id="130" name="Google Shape;130;p16"/>
          <p:cNvSpPr/>
          <p:nvPr/>
        </p:nvSpPr>
        <p:spPr>
          <a:xfrm>
            <a:off x="6042155" y="1488425"/>
            <a:ext cx="4916100" cy="2421300"/>
          </a:xfrm>
          <a:prstGeom prst="roundRect">
            <a:avLst>
              <a:gd fmla="val 2841" name="adj"/>
            </a:avLst>
          </a:prstGeom>
          <a:solidFill>
            <a:srgbClr val="FFFFFF"/>
          </a:solidFill>
          <a:ln>
            <a:noFill/>
          </a:ln>
        </p:spPr>
        <p:txBody>
          <a:bodyPr anchorCtr="0" anchor="ctr" bIns="41250" lIns="82550" spcFirstLastPara="1" rIns="82550" wrap="square" tIns="41250">
            <a:noAutofit/>
          </a:bodyPr>
          <a:lstStyle/>
          <a:p>
            <a:pPr indent="0" lvl="0" marL="0" marR="0" rtl="0" algn="ctr">
              <a:spcBef>
                <a:spcPts val="0"/>
              </a:spcBef>
              <a:spcAft>
                <a:spcPts val="0"/>
              </a:spcAft>
              <a:buNone/>
            </a:pPr>
            <a:r>
              <a:t/>
            </a:r>
            <a:endParaRPr b="0" i="0" sz="1625" u="none" cap="none" strike="noStrike">
              <a:solidFill>
                <a:schemeClr val="dk1"/>
              </a:solidFill>
              <a:latin typeface="Calibri"/>
              <a:ea typeface="Calibri"/>
              <a:cs typeface="Calibri"/>
              <a:sym typeface="Calibri"/>
            </a:endParaRPr>
          </a:p>
        </p:txBody>
      </p:sp>
      <p:sp>
        <p:nvSpPr>
          <p:cNvPr id="131" name="Google Shape;131;p16"/>
          <p:cNvSpPr/>
          <p:nvPr/>
        </p:nvSpPr>
        <p:spPr>
          <a:xfrm>
            <a:off x="762000" y="4253795"/>
            <a:ext cx="4916100" cy="2421300"/>
          </a:xfrm>
          <a:prstGeom prst="roundRect">
            <a:avLst>
              <a:gd fmla="val 2841" name="adj"/>
            </a:avLst>
          </a:prstGeom>
          <a:solidFill>
            <a:srgbClr val="FFFFFF"/>
          </a:solidFill>
          <a:ln>
            <a:noFill/>
          </a:ln>
        </p:spPr>
        <p:txBody>
          <a:bodyPr anchorCtr="0" anchor="ctr" bIns="41250" lIns="82550" spcFirstLastPara="1" rIns="82550" wrap="square" tIns="41250">
            <a:noAutofit/>
          </a:bodyPr>
          <a:lstStyle/>
          <a:p>
            <a:pPr indent="0" lvl="0" marL="0" marR="0" rtl="0" algn="ctr">
              <a:spcBef>
                <a:spcPts val="0"/>
              </a:spcBef>
              <a:spcAft>
                <a:spcPts val="0"/>
              </a:spcAft>
              <a:buNone/>
            </a:pPr>
            <a:r>
              <a:t/>
            </a:r>
            <a:endParaRPr b="0" i="0" sz="1625" u="none" cap="none" strike="noStrike">
              <a:solidFill>
                <a:schemeClr val="dk1"/>
              </a:solidFill>
              <a:latin typeface="Calibri"/>
              <a:ea typeface="Calibri"/>
              <a:cs typeface="Calibri"/>
              <a:sym typeface="Calibri"/>
            </a:endParaRPr>
          </a:p>
        </p:txBody>
      </p:sp>
      <p:sp>
        <p:nvSpPr>
          <p:cNvPr id="132" name="Google Shape;132;p16"/>
          <p:cNvSpPr/>
          <p:nvPr/>
        </p:nvSpPr>
        <p:spPr>
          <a:xfrm>
            <a:off x="6042155" y="4253795"/>
            <a:ext cx="4916100" cy="2421300"/>
          </a:xfrm>
          <a:prstGeom prst="roundRect">
            <a:avLst>
              <a:gd fmla="val 2841" name="adj"/>
            </a:avLst>
          </a:prstGeom>
          <a:solidFill>
            <a:srgbClr val="FFFFFF"/>
          </a:solidFill>
          <a:ln>
            <a:noFill/>
          </a:ln>
        </p:spPr>
        <p:txBody>
          <a:bodyPr anchorCtr="0" anchor="ctr" bIns="41250" lIns="82550" spcFirstLastPara="1" rIns="82550" wrap="square" tIns="41250">
            <a:noAutofit/>
          </a:bodyPr>
          <a:lstStyle/>
          <a:p>
            <a:pPr indent="0" lvl="0" marL="0" marR="0" rtl="0" algn="ctr">
              <a:spcBef>
                <a:spcPts val="0"/>
              </a:spcBef>
              <a:spcAft>
                <a:spcPts val="0"/>
              </a:spcAft>
              <a:buNone/>
            </a:pPr>
            <a:r>
              <a:t/>
            </a:r>
            <a:endParaRPr b="0" i="0" sz="1625" u="none" cap="none" strike="noStrike">
              <a:solidFill>
                <a:schemeClr val="dk1"/>
              </a:solidFill>
              <a:latin typeface="Calibri"/>
              <a:ea typeface="Calibri"/>
              <a:cs typeface="Calibri"/>
              <a:sym typeface="Calibri"/>
            </a:endParaRPr>
          </a:p>
        </p:txBody>
      </p:sp>
      <p:pic>
        <p:nvPicPr>
          <p:cNvPr descr="image.png" id="133" name="Google Shape;133;p16"/>
          <p:cNvPicPr preferRelativeResize="0"/>
          <p:nvPr/>
        </p:nvPicPr>
        <p:blipFill rotWithShape="1">
          <a:blip r:embed="rId3">
            <a:alphaModFix/>
          </a:blip>
          <a:srcRect b="0" l="0" r="0" t="0"/>
          <a:stretch/>
        </p:blipFill>
        <p:spPr>
          <a:xfrm>
            <a:off x="1126149" y="1901195"/>
            <a:ext cx="455186" cy="343975"/>
          </a:xfrm>
          <a:prstGeom prst="rect">
            <a:avLst/>
          </a:prstGeom>
          <a:noFill/>
          <a:ln>
            <a:noFill/>
          </a:ln>
        </p:spPr>
      </p:pic>
      <p:pic>
        <p:nvPicPr>
          <p:cNvPr descr="image.png" id="134" name="Google Shape;134;p16"/>
          <p:cNvPicPr preferRelativeResize="0"/>
          <p:nvPr/>
        </p:nvPicPr>
        <p:blipFill rotWithShape="1">
          <a:blip r:embed="rId4">
            <a:alphaModFix/>
          </a:blip>
          <a:srcRect b="0" l="0" r="0" t="0"/>
          <a:stretch/>
        </p:blipFill>
        <p:spPr>
          <a:xfrm>
            <a:off x="6406303" y="1901195"/>
            <a:ext cx="364149" cy="343975"/>
          </a:xfrm>
          <a:prstGeom prst="rect">
            <a:avLst/>
          </a:prstGeom>
          <a:noFill/>
          <a:ln>
            <a:noFill/>
          </a:ln>
        </p:spPr>
      </p:pic>
      <p:pic>
        <p:nvPicPr>
          <p:cNvPr descr="image.png" id="135" name="Google Shape;135;p16"/>
          <p:cNvPicPr preferRelativeResize="0"/>
          <p:nvPr/>
        </p:nvPicPr>
        <p:blipFill rotWithShape="1">
          <a:blip r:embed="rId5">
            <a:alphaModFix/>
          </a:blip>
          <a:srcRect b="0" l="0" r="0" t="0"/>
          <a:stretch/>
        </p:blipFill>
        <p:spPr>
          <a:xfrm>
            <a:off x="1126149" y="4666565"/>
            <a:ext cx="364149" cy="343975"/>
          </a:xfrm>
          <a:prstGeom prst="rect">
            <a:avLst/>
          </a:prstGeom>
          <a:noFill/>
          <a:ln>
            <a:noFill/>
          </a:ln>
        </p:spPr>
      </p:pic>
      <p:pic>
        <p:nvPicPr>
          <p:cNvPr descr="image.png" id="136" name="Google Shape;136;p16"/>
          <p:cNvPicPr preferRelativeResize="0"/>
          <p:nvPr/>
        </p:nvPicPr>
        <p:blipFill rotWithShape="1">
          <a:blip r:embed="rId6">
            <a:alphaModFix/>
          </a:blip>
          <a:srcRect b="0" l="0" r="0" t="0"/>
          <a:stretch/>
        </p:blipFill>
        <p:spPr>
          <a:xfrm>
            <a:off x="6406303" y="4666565"/>
            <a:ext cx="409667" cy="343975"/>
          </a:xfrm>
          <a:prstGeom prst="rect">
            <a:avLst/>
          </a:prstGeom>
          <a:noFill/>
          <a:ln>
            <a:noFill/>
          </a:ln>
        </p:spPr>
      </p:pic>
      <p:sp>
        <p:nvSpPr>
          <p:cNvPr id="137" name="Google Shape;137;p16"/>
          <p:cNvSpPr txBox="1"/>
          <p:nvPr/>
        </p:nvSpPr>
        <p:spPr>
          <a:xfrm>
            <a:off x="1295400" y="609600"/>
            <a:ext cx="46131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0A192F"/>
                </a:solidFill>
                <a:latin typeface="Oswald"/>
                <a:ea typeface="Oswald"/>
                <a:cs typeface="Oswald"/>
                <a:sym typeface="Oswald"/>
              </a:rPr>
              <a:t>THE SOLUTION</a:t>
            </a:r>
            <a:endParaRPr/>
          </a:p>
        </p:txBody>
      </p:sp>
      <p:sp>
        <p:nvSpPr>
          <p:cNvPr id="138" name="Google Shape;138;p16"/>
          <p:cNvSpPr txBox="1"/>
          <p:nvPr/>
        </p:nvSpPr>
        <p:spPr>
          <a:xfrm>
            <a:off x="1126149" y="2451555"/>
            <a:ext cx="5496300" cy="333600"/>
          </a:xfrm>
          <a:prstGeom prst="rect">
            <a:avLst/>
          </a:prstGeom>
          <a:noFill/>
          <a:ln>
            <a:noFill/>
          </a:ln>
        </p:spPr>
        <p:txBody>
          <a:bodyPr anchorCtr="0" anchor="t" bIns="0" lIns="0" spcFirstLastPara="1" rIns="0" wrap="square" tIns="0">
            <a:spAutoFit/>
          </a:bodyPr>
          <a:lstStyle/>
          <a:p>
            <a:pPr indent="0" lvl="0" marL="0" marR="0" rtl="0" algn="l">
              <a:lnSpc>
                <a:spcPct val="119958"/>
              </a:lnSpc>
              <a:spcBef>
                <a:spcPts val="0"/>
              </a:spcBef>
              <a:spcAft>
                <a:spcPts val="0"/>
              </a:spcAft>
              <a:buNone/>
            </a:pPr>
            <a:r>
              <a:rPr b="1" i="0" lang="en-US" sz="2167" u="none" cap="none" strike="noStrike">
                <a:solidFill>
                  <a:srgbClr val="0A192F"/>
                </a:solidFill>
                <a:latin typeface="Oswald"/>
                <a:ea typeface="Oswald"/>
                <a:cs typeface="Oswald"/>
                <a:sym typeface="Oswald"/>
              </a:rPr>
              <a:t>MOBILE MEDICAL UNITS</a:t>
            </a:r>
            <a:endParaRPr sz="1264"/>
          </a:p>
        </p:txBody>
      </p:sp>
      <p:sp>
        <p:nvSpPr>
          <p:cNvPr id="139" name="Google Shape;139;p16"/>
          <p:cNvSpPr txBox="1"/>
          <p:nvPr/>
        </p:nvSpPr>
        <p:spPr>
          <a:xfrm>
            <a:off x="1069750" y="2855825"/>
            <a:ext cx="4391700" cy="950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625" u="none" cap="none" strike="noStrike">
                <a:solidFill>
                  <a:srgbClr val="4A5568"/>
                </a:solidFill>
                <a:latin typeface="Inter"/>
                <a:ea typeface="Inter"/>
                <a:cs typeface="Inter"/>
                <a:sym typeface="Inter"/>
              </a:rPr>
              <a:t>Dynamic route optimization across NYC. The optimised number of units has been calculated to </a:t>
            </a:r>
            <a:r>
              <a:rPr lang="en-US" sz="1625">
                <a:solidFill>
                  <a:srgbClr val="4A5568"/>
                </a:solidFill>
                <a:latin typeface="Inter"/>
                <a:ea typeface="Inter"/>
                <a:cs typeface="Inter"/>
                <a:sym typeface="Inter"/>
              </a:rPr>
              <a:t>330.</a:t>
            </a:r>
            <a:endParaRPr sz="1264"/>
          </a:p>
        </p:txBody>
      </p:sp>
      <p:sp>
        <p:nvSpPr>
          <p:cNvPr id="140" name="Google Shape;140;p16"/>
          <p:cNvSpPr txBox="1"/>
          <p:nvPr/>
        </p:nvSpPr>
        <p:spPr>
          <a:xfrm>
            <a:off x="6406303" y="2451555"/>
            <a:ext cx="5280000" cy="333600"/>
          </a:xfrm>
          <a:prstGeom prst="rect">
            <a:avLst/>
          </a:prstGeom>
          <a:noFill/>
          <a:ln>
            <a:noFill/>
          </a:ln>
        </p:spPr>
        <p:txBody>
          <a:bodyPr anchorCtr="0" anchor="t" bIns="0" lIns="0" spcFirstLastPara="1" rIns="0" wrap="square" tIns="0">
            <a:spAutoFit/>
          </a:bodyPr>
          <a:lstStyle/>
          <a:p>
            <a:pPr indent="0" lvl="0" marL="0" marR="0" rtl="0" algn="l">
              <a:lnSpc>
                <a:spcPct val="119958"/>
              </a:lnSpc>
              <a:spcBef>
                <a:spcPts val="0"/>
              </a:spcBef>
              <a:spcAft>
                <a:spcPts val="0"/>
              </a:spcAft>
              <a:buNone/>
            </a:pPr>
            <a:r>
              <a:rPr b="1" i="0" lang="en-US" sz="2167" u="none" cap="none" strike="noStrike">
                <a:solidFill>
                  <a:srgbClr val="0A192F"/>
                </a:solidFill>
                <a:latin typeface="Oswald"/>
                <a:ea typeface="Oswald"/>
                <a:cs typeface="Oswald"/>
                <a:sym typeface="Oswald"/>
              </a:rPr>
              <a:t>PREDICTIVE ROUTING</a:t>
            </a:r>
            <a:endParaRPr sz="1264"/>
          </a:p>
        </p:txBody>
      </p:sp>
      <p:sp>
        <p:nvSpPr>
          <p:cNvPr id="141" name="Google Shape;141;p16"/>
          <p:cNvSpPr txBox="1"/>
          <p:nvPr/>
        </p:nvSpPr>
        <p:spPr>
          <a:xfrm>
            <a:off x="6406303" y="2919279"/>
            <a:ext cx="4278900" cy="250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625" u="none" cap="none" strike="noStrike">
                <a:solidFill>
                  <a:srgbClr val="4A5568"/>
                </a:solidFill>
                <a:latin typeface="Inter"/>
                <a:ea typeface="Inter"/>
                <a:cs typeface="Inter"/>
                <a:sym typeface="Inter"/>
              </a:rPr>
              <a:t>Historical incident-based unit distribution.</a:t>
            </a:r>
            <a:endParaRPr sz="1264"/>
          </a:p>
        </p:txBody>
      </p:sp>
      <p:sp>
        <p:nvSpPr>
          <p:cNvPr id="142" name="Google Shape;142;p16"/>
          <p:cNvSpPr txBox="1"/>
          <p:nvPr/>
        </p:nvSpPr>
        <p:spPr>
          <a:xfrm>
            <a:off x="1126149" y="5216924"/>
            <a:ext cx="5496300" cy="333600"/>
          </a:xfrm>
          <a:prstGeom prst="rect">
            <a:avLst/>
          </a:prstGeom>
          <a:noFill/>
          <a:ln>
            <a:noFill/>
          </a:ln>
        </p:spPr>
        <p:txBody>
          <a:bodyPr anchorCtr="0" anchor="t" bIns="0" lIns="0" spcFirstLastPara="1" rIns="0" wrap="square" tIns="0">
            <a:spAutoFit/>
          </a:bodyPr>
          <a:lstStyle/>
          <a:p>
            <a:pPr indent="0" lvl="0" marL="0" marR="0" rtl="0" algn="l">
              <a:lnSpc>
                <a:spcPct val="119958"/>
              </a:lnSpc>
              <a:spcBef>
                <a:spcPts val="0"/>
              </a:spcBef>
              <a:spcAft>
                <a:spcPts val="0"/>
              </a:spcAft>
              <a:buNone/>
            </a:pPr>
            <a:r>
              <a:rPr b="1" i="0" lang="en-US" sz="2167" u="none" cap="none" strike="noStrike">
                <a:solidFill>
                  <a:srgbClr val="0A192F"/>
                </a:solidFill>
                <a:latin typeface="Oswald"/>
                <a:ea typeface="Oswald"/>
                <a:cs typeface="Oswald"/>
                <a:sym typeface="Oswald"/>
              </a:rPr>
              <a:t>INCIDENT PREDICTION</a:t>
            </a:r>
            <a:endParaRPr sz="1264"/>
          </a:p>
        </p:txBody>
      </p:sp>
      <p:sp>
        <p:nvSpPr>
          <p:cNvPr id="143" name="Google Shape;143;p16"/>
          <p:cNvSpPr txBox="1"/>
          <p:nvPr/>
        </p:nvSpPr>
        <p:spPr>
          <a:xfrm>
            <a:off x="1126149" y="5684650"/>
            <a:ext cx="4278900" cy="600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625" u="none" cap="none" strike="noStrike">
                <a:solidFill>
                  <a:srgbClr val="4A5568"/>
                </a:solidFill>
                <a:latin typeface="Inter"/>
                <a:ea typeface="Inter"/>
                <a:cs typeface="Inter"/>
                <a:sym typeface="Inter"/>
              </a:rPr>
              <a:t>Weather-triggered preventative medical deployment.</a:t>
            </a:r>
            <a:endParaRPr sz="1264"/>
          </a:p>
        </p:txBody>
      </p:sp>
      <p:sp>
        <p:nvSpPr>
          <p:cNvPr id="144" name="Google Shape;144;p16"/>
          <p:cNvSpPr txBox="1"/>
          <p:nvPr/>
        </p:nvSpPr>
        <p:spPr>
          <a:xfrm>
            <a:off x="6406303" y="5216924"/>
            <a:ext cx="5280000" cy="333600"/>
          </a:xfrm>
          <a:prstGeom prst="rect">
            <a:avLst/>
          </a:prstGeom>
          <a:noFill/>
          <a:ln>
            <a:noFill/>
          </a:ln>
        </p:spPr>
        <p:txBody>
          <a:bodyPr anchorCtr="0" anchor="t" bIns="0" lIns="0" spcFirstLastPara="1" rIns="0" wrap="square" tIns="0">
            <a:spAutoFit/>
          </a:bodyPr>
          <a:lstStyle/>
          <a:p>
            <a:pPr indent="0" lvl="0" marL="0" marR="0" rtl="0" algn="l">
              <a:lnSpc>
                <a:spcPct val="119958"/>
              </a:lnSpc>
              <a:spcBef>
                <a:spcPts val="0"/>
              </a:spcBef>
              <a:spcAft>
                <a:spcPts val="0"/>
              </a:spcAft>
              <a:buNone/>
            </a:pPr>
            <a:r>
              <a:rPr b="1" i="0" lang="en-US" sz="2167" u="none" cap="none" strike="noStrike">
                <a:solidFill>
                  <a:srgbClr val="0A192F"/>
                </a:solidFill>
                <a:latin typeface="Oswald"/>
                <a:ea typeface="Oswald"/>
                <a:cs typeface="Oswald"/>
                <a:sym typeface="Oswald"/>
              </a:rPr>
              <a:t>PRIORITY LOCATIONS</a:t>
            </a:r>
            <a:endParaRPr sz="1264"/>
          </a:p>
        </p:txBody>
      </p:sp>
      <p:sp>
        <p:nvSpPr>
          <p:cNvPr id="145" name="Google Shape;145;p16"/>
          <p:cNvSpPr txBox="1"/>
          <p:nvPr/>
        </p:nvSpPr>
        <p:spPr>
          <a:xfrm>
            <a:off x="6406303" y="5684650"/>
            <a:ext cx="5234700" cy="250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625" u="none" cap="none" strike="noStrike">
                <a:solidFill>
                  <a:srgbClr val="4A5568"/>
                </a:solidFill>
                <a:latin typeface="Inter"/>
                <a:ea typeface="Inter"/>
                <a:cs typeface="Inter"/>
                <a:sym typeface="Inter"/>
              </a:rPr>
              <a:t>EMS dispatch data hotspot mapping.</a:t>
            </a:r>
            <a:endParaRPr sz="1264"/>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5F6"/>
        </a:solidFill>
      </p:bgPr>
    </p:bg>
    <p:spTree>
      <p:nvGrpSpPr>
        <p:cNvPr id="149" name="Shape 149"/>
        <p:cNvGrpSpPr/>
        <p:nvPr/>
      </p:nvGrpSpPr>
      <p:grpSpPr>
        <a:xfrm>
          <a:off x="0" y="0"/>
          <a:ext cx="0" cy="0"/>
          <a:chOff x="0" y="0"/>
          <a:chExt cx="0" cy="0"/>
        </a:xfrm>
      </p:grpSpPr>
      <p:sp>
        <p:nvSpPr>
          <p:cNvPr id="150" name="Google Shape;150;p17"/>
          <p:cNvSpPr/>
          <p:nvPr/>
        </p:nvSpPr>
        <p:spPr>
          <a:xfrm>
            <a:off x="609600" y="5407818"/>
            <a:ext cx="10972800" cy="1407600"/>
          </a:xfrm>
          <a:prstGeom prst="rect">
            <a:avLst/>
          </a:prstGeom>
          <a:solidFill>
            <a:srgbClr val="0A19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17"/>
          <p:cNvSpPr/>
          <p:nvPr/>
        </p:nvSpPr>
        <p:spPr>
          <a:xfrm>
            <a:off x="609600" y="1952625"/>
            <a:ext cx="2444700" cy="30741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 name="Google Shape;152;p17"/>
          <p:cNvSpPr/>
          <p:nvPr/>
        </p:nvSpPr>
        <p:spPr>
          <a:xfrm>
            <a:off x="3282999" y="1952625"/>
            <a:ext cx="2444700" cy="30741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17"/>
          <p:cNvSpPr/>
          <p:nvPr/>
        </p:nvSpPr>
        <p:spPr>
          <a:xfrm>
            <a:off x="5956399" y="1952625"/>
            <a:ext cx="2444700" cy="30741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17"/>
          <p:cNvSpPr/>
          <p:nvPr/>
        </p:nvSpPr>
        <p:spPr>
          <a:xfrm>
            <a:off x="8629798" y="1952625"/>
            <a:ext cx="2952900" cy="30741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17"/>
          <p:cNvSpPr/>
          <p:nvPr/>
        </p:nvSpPr>
        <p:spPr>
          <a:xfrm>
            <a:off x="3433762" y="5712618"/>
            <a:ext cx="2385900" cy="798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17"/>
          <p:cNvSpPr/>
          <p:nvPr/>
        </p:nvSpPr>
        <p:spPr>
          <a:xfrm>
            <a:off x="6124575" y="5805933"/>
            <a:ext cx="2385900" cy="611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7"/>
          <p:cNvSpPr/>
          <p:nvPr/>
        </p:nvSpPr>
        <p:spPr>
          <a:xfrm>
            <a:off x="8815387" y="5805933"/>
            <a:ext cx="2385900" cy="611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17"/>
          <p:cNvSpPr/>
          <p:nvPr/>
        </p:nvSpPr>
        <p:spPr>
          <a:xfrm>
            <a:off x="609600" y="685800"/>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p17"/>
          <p:cNvSpPr/>
          <p:nvPr/>
        </p:nvSpPr>
        <p:spPr>
          <a:xfrm>
            <a:off x="609600" y="1952625"/>
            <a:ext cx="2444700" cy="573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17"/>
          <p:cNvSpPr/>
          <p:nvPr/>
        </p:nvSpPr>
        <p:spPr>
          <a:xfrm>
            <a:off x="3282999" y="1952625"/>
            <a:ext cx="2444700" cy="573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7"/>
          <p:cNvSpPr/>
          <p:nvPr/>
        </p:nvSpPr>
        <p:spPr>
          <a:xfrm>
            <a:off x="5956399" y="1952625"/>
            <a:ext cx="2444700" cy="573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17"/>
          <p:cNvSpPr/>
          <p:nvPr/>
        </p:nvSpPr>
        <p:spPr>
          <a:xfrm>
            <a:off x="8629798" y="1952625"/>
            <a:ext cx="2952900" cy="573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17"/>
          <p:cNvSpPr/>
          <p:nvPr/>
        </p:nvSpPr>
        <p:spPr>
          <a:xfrm>
            <a:off x="3433762" y="5712618"/>
            <a:ext cx="19200" cy="798000"/>
          </a:xfrm>
          <a:prstGeom prst="rect">
            <a:avLst/>
          </a:prstGeom>
          <a:solidFill>
            <a:srgbClr val="F5A62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7"/>
          <p:cNvSpPr/>
          <p:nvPr/>
        </p:nvSpPr>
        <p:spPr>
          <a:xfrm>
            <a:off x="6124575" y="5805933"/>
            <a:ext cx="19200" cy="611400"/>
          </a:xfrm>
          <a:prstGeom prst="rect">
            <a:avLst/>
          </a:prstGeom>
          <a:solidFill>
            <a:srgbClr val="F5A62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7"/>
          <p:cNvSpPr/>
          <p:nvPr/>
        </p:nvSpPr>
        <p:spPr>
          <a:xfrm>
            <a:off x="8815387" y="5805933"/>
            <a:ext cx="19200" cy="611400"/>
          </a:xfrm>
          <a:prstGeom prst="rect">
            <a:avLst/>
          </a:prstGeom>
          <a:solidFill>
            <a:srgbClr val="F5A62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7"/>
          <p:cNvSpPr txBox="1"/>
          <p:nvPr/>
        </p:nvSpPr>
        <p:spPr>
          <a:xfrm>
            <a:off x="609600" y="6967835"/>
            <a:ext cx="11582400" cy="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900" u="none" cap="none" strike="noStrike">
                <a:solidFill>
                  <a:srgbClr val="0F172A"/>
                </a:solidFill>
                <a:latin typeface="Inter"/>
                <a:ea typeface="Inter"/>
                <a:cs typeface="Inter"/>
                <a:sym typeface="Inter"/>
              </a:rPr>
              <a:t>Source: NYC Open Data EMS incident dispatch data; replay of 2022-07-19, 4,694 calls.</a:t>
            </a:r>
            <a:endParaRPr/>
          </a:p>
        </p:txBody>
      </p:sp>
      <p:sp>
        <p:nvSpPr>
          <p:cNvPr id="167" name="Google Shape;167;p17"/>
          <p:cNvSpPr txBox="1"/>
          <p:nvPr/>
        </p:nvSpPr>
        <p:spPr>
          <a:xfrm>
            <a:off x="1143000" y="1295400"/>
            <a:ext cx="92868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800" u="none" cap="none" strike="noStrike">
                <a:solidFill>
                  <a:srgbClr val="4A5568"/>
                </a:solidFill>
                <a:latin typeface="Inter"/>
                <a:ea typeface="Inter"/>
                <a:cs typeface="Inter"/>
                <a:sym typeface="Inter"/>
              </a:rPr>
              <a:t>Data-driven methodology built for enterprise emergency operations.</a:t>
            </a:r>
            <a:endParaRPr/>
          </a:p>
        </p:txBody>
      </p:sp>
      <p:sp>
        <p:nvSpPr>
          <p:cNvPr id="168" name="Google Shape;168;p17"/>
          <p:cNvSpPr txBox="1"/>
          <p:nvPr/>
        </p:nvSpPr>
        <p:spPr>
          <a:xfrm>
            <a:off x="1143000" y="533400"/>
            <a:ext cx="69759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0A192F"/>
                </a:solidFill>
                <a:latin typeface="Oswald"/>
                <a:ea typeface="Oswald"/>
                <a:cs typeface="Oswald"/>
                <a:sym typeface="Oswald"/>
              </a:rPr>
              <a:t>THE IMPLEMENTATION</a:t>
            </a:r>
            <a:endParaRPr/>
          </a:p>
        </p:txBody>
      </p:sp>
      <p:sp>
        <p:nvSpPr>
          <p:cNvPr id="169" name="Google Shape;169;p17"/>
          <p:cNvSpPr txBox="1"/>
          <p:nvPr/>
        </p:nvSpPr>
        <p:spPr>
          <a:xfrm>
            <a:off x="838200" y="2314575"/>
            <a:ext cx="21870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C0000"/>
                </a:solidFill>
                <a:latin typeface="Oswald"/>
                <a:ea typeface="Oswald"/>
                <a:cs typeface="Oswald"/>
                <a:sym typeface="Oswald"/>
              </a:rPr>
              <a:t>01 / DATA</a:t>
            </a:r>
            <a:endParaRPr/>
          </a:p>
        </p:txBody>
      </p:sp>
      <p:sp>
        <p:nvSpPr>
          <p:cNvPr id="170" name="Google Shape;170;p17"/>
          <p:cNvSpPr txBox="1"/>
          <p:nvPr/>
        </p:nvSpPr>
        <p:spPr>
          <a:xfrm>
            <a:off x="838200" y="2809875"/>
            <a:ext cx="2082900" cy="7893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en-US" sz="1350" u="none" cap="none" strike="noStrike">
                <a:solidFill>
                  <a:srgbClr val="4A5568"/>
                </a:solidFill>
                <a:latin typeface="Inter"/>
                <a:ea typeface="Inter"/>
                <a:cs typeface="Inter"/>
                <a:sym typeface="Inter"/>
              </a:rPr>
              <a:t>NYC 911 calls, weather, Census, and hospital data joined by ZIP zone.</a:t>
            </a:r>
            <a:endParaRPr/>
          </a:p>
        </p:txBody>
      </p:sp>
      <p:sp>
        <p:nvSpPr>
          <p:cNvPr id="171" name="Google Shape;171;p17"/>
          <p:cNvSpPr txBox="1"/>
          <p:nvPr/>
        </p:nvSpPr>
        <p:spPr>
          <a:xfrm>
            <a:off x="838200" y="3998118"/>
            <a:ext cx="26088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CC0000"/>
                </a:solidFill>
                <a:latin typeface="Oswald"/>
                <a:ea typeface="Oswald"/>
                <a:cs typeface="Oswald"/>
                <a:sym typeface="Oswald"/>
              </a:rPr>
              <a:t>1.5M</a:t>
            </a:r>
            <a:endParaRPr/>
          </a:p>
        </p:txBody>
      </p:sp>
      <p:sp>
        <p:nvSpPr>
          <p:cNvPr id="172" name="Google Shape;172;p17"/>
          <p:cNvSpPr txBox="1"/>
          <p:nvPr/>
        </p:nvSpPr>
        <p:spPr>
          <a:xfrm>
            <a:off x="838200" y="4531518"/>
            <a:ext cx="24846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718096"/>
                </a:solidFill>
                <a:latin typeface="Inter"/>
                <a:ea typeface="Inter"/>
                <a:cs typeface="Inter"/>
                <a:sym typeface="Inter"/>
              </a:rPr>
              <a:t>2021 calls used to train.</a:t>
            </a:r>
            <a:endParaRPr/>
          </a:p>
        </p:txBody>
      </p:sp>
      <p:sp>
        <p:nvSpPr>
          <p:cNvPr id="173" name="Google Shape;173;p17"/>
          <p:cNvSpPr txBox="1"/>
          <p:nvPr/>
        </p:nvSpPr>
        <p:spPr>
          <a:xfrm>
            <a:off x="3511599" y="2314575"/>
            <a:ext cx="21870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C0000"/>
                </a:solidFill>
                <a:latin typeface="Oswald"/>
                <a:ea typeface="Oswald"/>
                <a:cs typeface="Oswald"/>
                <a:sym typeface="Oswald"/>
              </a:rPr>
              <a:t>02 / FORECAST</a:t>
            </a:r>
            <a:endParaRPr/>
          </a:p>
        </p:txBody>
      </p:sp>
      <p:sp>
        <p:nvSpPr>
          <p:cNvPr id="174" name="Google Shape;174;p17"/>
          <p:cNvSpPr txBox="1"/>
          <p:nvPr/>
        </p:nvSpPr>
        <p:spPr>
          <a:xfrm>
            <a:off x="3511599" y="2809875"/>
            <a:ext cx="2082900" cy="10800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en-US" sz="1350" u="none" cap="none" strike="noStrike">
                <a:solidFill>
                  <a:srgbClr val="4A5568"/>
                </a:solidFill>
                <a:latin typeface="Inter"/>
                <a:ea typeface="Inter"/>
                <a:cs typeface="Inter"/>
                <a:sym typeface="Inter"/>
              </a:rPr>
              <a:t>LightGBM predicts critical call volume for the next 30 to 180 minutes.</a:t>
            </a:r>
            <a:endParaRPr/>
          </a:p>
        </p:txBody>
      </p:sp>
      <p:sp>
        <p:nvSpPr>
          <p:cNvPr id="175" name="Google Shape;175;p17"/>
          <p:cNvSpPr txBox="1"/>
          <p:nvPr/>
        </p:nvSpPr>
        <p:spPr>
          <a:xfrm>
            <a:off x="3511599" y="3998118"/>
            <a:ext cx="26088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CC0000"/>
                </a:solidFill>
                <a:latin typeface="Oswald"/>
                <a:ea typeface="Oswald"/>
                <a:cs typeface="Oswald"/>
                <a:sym typeface="Oswald"/>
              </a:rPr>
              <a:t>8 Models</a:t>
            </a:r>
            <a:endParaRPr/>
          </a:p>
        </p:txBody>
      </p:sp>
      <p:sp>
        <p:nvSpPr>
          <p:cNvPr id="176" name="Google Shape;176;p17"/>
          <p:cNvSpPr txBox="1"/>
          <p:nvPr/>
        </p:nvSpPr>
        <p:spPr>
          <a:xfrm>
            <a:off x="3511599" y="4531518"/>
            <a:ext cx="24846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718096"/>
                </a:solidFill>
                <a:latin typeface="Inter"/>
                <a:ea typeface="Inter"/>
                <a:cs typeface="Inter"/>
                <a:sym typeface="Inter"/>
              </a:rPr>
              <a:t>Tested on all 2022 data.</a:t>
            </a:r>
            <a:endParaRPr/>
          </a:p>
        </p:txBody>
      </p:sp>
      <p:sp>
        <p:nvSpPr>
          <p:cNvPr id="177" name="Google Shape;177;p17"/>
          <p:cNvSpPr txBox="1"/>
          <p:nvPr/>
        </p:nvSpPr>
        <p:spPr>
          <a:xfrm>
            <a:off x="6184999" y="2314575"/>
            <a:ext cx="21870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C0000"/>
                </a:solidFill>
                <a:latin typeface="Oswald"/>
                <a:ea typeface="Oswald"/>
                <a:cs typeface="Oswald"/>
                <a:sym typeface="Oswald"/>
              </a:rPr>
              <a:t>03 / POSITION</a:t>
            </a:r>
            <a:endParaRPr/>
          </a:p>
        </p:txBody>
      </p:sp>
      <p:sp>
        <p:nvSpPr>
          <p:cNvPr id="178" name="Google Shape;178;p17"/>
          <p:cNvSpPr txBox="1"/>
          <p:nvPr/>
        </p:nvSpPr>
        <p:spPr>
          <a:xfrm>
            <a:off x="6184999" y="2809875"/>
            <a:ext cx="2082900" cy="10800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en-US" sz="1350" u="none" cap="none" strike="noStrike">
                <a:solidFill>
                  <a:srgbClr val="4A5568"/>
                </a:solidFill>
                <a:latin typeface="Inter"/>
                <a:ea typeface="Inter"/>
                <a:cs typeface="Inter"/>
                <a:sym typeface="Inter"/>
              </a:rPr>
              <a:t>Idle units preemptively route to expected demand zones</a:t>
            </a:r>
            <a:r>
              <a:rPr lang="en-US" sz="1350">
                <a:solidFill>
                  <a:srgbClr val="4A5568"/>
                </a:solidFill>
                <a:latin typeface="Inter"/>
                <a:ea typeface="Inter"/>
                <a:cs typeface="Inter"/>
                <a:sym typeface="Inter"/>
              </a:rPr>
              <a:t>. Granite LLM translates output.</a:t>
            </a:r>
            <a:endParaRPr/>
          </a:p>
        </p:txBody>
      </p:sp>
      <p:sp>
        <p:nvSpPr>
          <p:cNvPr id="179" name="Google Shape;179;p17"/>
          <p:cNvSpPr txBox="1"/>
          <p:nvPr/>
        </p:nvSpPr>
        <p:spPr>
          <a:xfrm>
            <a:off x="6184999" y="3998118"/>
            <a:ext cx="26088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CC0000"/>
                </a:solidFill>
                <a:latin typeface="Oswald"/>
                <a:ea typeface="Oswald"/>
                <a:cs typeface="Oswald"/>
                <a:sym typeface="Oswald"/>
              </a:rPr>
              <a:t>30 Min</a:t>
            </a:r>
            <a:endParaRPr/>
          </a:p>
        </p:txBody>
      </p:sp>
      <p:sp>
        <p:nvSpPr>
          <p:cNvPr id="180" name="Google Shape;180;p17"/>
          <p:cNvSpPr txBox="1"/>
          <p:nvPr/>
        </p:nvSpPr>
        <p:spPr>
          <a:xfrm>
            <a:off x="6184999" y="4531518"/>
            <a:ext cx="24846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718096"/>
                </a:solidFill>
                <a:latin typeface="Inter"/>
                <a:ea typeface="Inter"/>
                <a:cs typeface="Inter"/>
                <a:sym typeface="Inter"/>
              </a:rPr>
              <a:t>Repositioning interval.</a:t>
            </a:r>
            <a:endParaRPr/>
          </a:p>
        </p:txBody>
      </p:sp>
      <p:sp>
        <p:nvSpPr>
          <p:cNvPr id="181" name="Google Shape;181;p17"/>
          <p:cNvSpPr txBox="1"/>
          <p:nvPr/>
        </p:nvSpPr>
        <p:spPr>
          <a:xfrm>
            <a:off x="8858398" y="2314575"/>
            <a:ext cx="27204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CC0000"/>
                </a:solidFill>
                <a:latin typeface="Oswald"/>
                <a:ea typeface="Oswald"/>
                <a:cs typeface="Oswald"/>
                <a:sym typeface="Oswald"/>
              </a:rPr>
              <a:t>04 / REPLAY</a:t>
            </a:r>
            <a:endParaRPr/>
          </a:p>
        </p:txBody>
      </p:sp>
      <p:sp>
        <p:nvSpPr>
          <p:cNvPr id="182" name="Google Shape;182;p17"/>
          <p:cNvSpPr txBox="1"/>
          <p:nvPr/>
        </p:nvSpPr>
        <p:spPr>
          <a:xfrm>
            <a:off x="8858398" y="2809875"/>
            <a:ext cx="2590800" cy="789300"/>
          </a:xfrm>
          <a:prstGeom prst="rect">
            <a:avLst/>
          </a:prstGeom>
          <a:noFill/>
          <a:ln>
            <a:noFill/>
          </a:ln>
        </p:spPr>
        <p:txBody>
          <a:bodyPr anchorCtr="0" anchor="t" bIns="0" lIns="0" spcFirstLastPara="1" rIns="0" wrap="square" tIns="0">
            <a:spAutoFit/>
          </a:bodyPr>
          <a:lstStyle/>
          <a:p>
            <a:pPr indent="0" lvl="0" marL="0" marR="0" rtl="0" algn="l">
              <a:lnSpc>
                <a:spcPct val="139925"/>
              </a:lnSpc>
              <a:spcBef>
                <a:spcPts val="0"/>
              </a:spcBef>
              <a:spcAft>
                <a:spcPts val="0"/>
              </a:spcAft>
              <a:buNone/>
            </a:pPr>
            <a:r>
              <a:rPr b="0" i="0" lang="en-US" sz="1350" u="none" cap="none" strike="noStrike">
                <a:solidFill>
                  <a:srgbClr val="4A5568"/>
                </a:solidFill>
                <a:latin typeface="Inter"/>
                <a:ea typeface="Inter"/>
                <a:cs typeface="Inter"/>
                <a:sym typeface="Inter"/>
              </a:rPr>
              <a:t>Calls replayed against a fixed layout using the exact same fleet.</a:t>
            </a:r>
            <a:endParaRPr/>
          </a:p>
        </p:txBody>
      </p:sp>
      <p:sp>
        <p:nvSpPr>
          <p:cNvPr id="183" name="Google Shape;183;p17"/>
          <p:cNvSpPr txBox="1"/>
          <p:nvPr/>
        </p:nvSpPr>
        <p:spPr>
          <a:xfrm>
            <a:off x="8858398" y="3998118"/>
            <a:ext cx="3275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CC0000"/>
                </a:solidFill>
                <a:latin typeface="Oswald"/>
                <a:ea typeface="Oswald"/>
                <a:cs typeface="Oswald"/>
                <a:sym typeface="Oswald"/>
              </a:rPr>
              <a:t>82% → 91%</a:t>
            </a:r>
            <a:endParaRPr/>
          </a:p>
        </p:txBody>
      </p:sp>
      <p:sp>
        <p:nvSpPr>
          <p:cNvPr id="184" name="Google Shape;184;p17"/>
          <p:cNvSpPr txBox="1"/>
          <p:nvPr/>
        </p:nvSpPr>
        <p:spPr>
          <a:xfrm>
            <a:off x="8858398" y="4531518"/>
            <a:ext cx="31194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718096"/>
                </a:solidFill>
                <a:latin typeface="Inter"/>
                <a:ea typeface="Inter"/>
                <a:cs typeface="Inter"/>
                <a:sym typeface="Inter"/>
              </a:rPr>
              <a:t>Critical calls reached &lt; 8 mins.</a:t>
            </a:r>
            <a:endParaRPr/>
          </a:p>
        </p:txBody>
      </p:sp>
      <p:sp>
        <p:nvSpPr>
          <p:cNvPr id="185" name="Google Shape;185;p17"/>
          <p:cNvSpPr txBox="1"/>
          <p:nvPr/>
        </p:nvSpPr>
        <p:spPr>
          <a:xfrm>
            <a:off x="990600" y="5859214"/>
            <a:ext cx="26730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F5A623"/>
                </a:solidFill>
                <a:latin typeface="Inter"/>
                <a:ea typeface="Inter"/>
                <a:cs typeface="Inter"/>
                <a:sym typeface="Inter"/>
              </a:rPr>
              <a:t>POWERED BY</a:t>
            </a:r>
            <a:endParaRPr/>
          </a:p>
        </p:txBody>
      </p:sp>
      <p:sp>
        <p:nvSpPr>
          <p:cNvPr id="186" name="Google Shape;186;p17"/>
          <p:cNvSpPr txBox="1"/>
          <p:nvPr/>
        </p:nvSpPr>
        <p:spPr>
          <a:xfrm>
            <a:off x="990600" y="6059239"/>
            <a:ext cx="28065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400" u="none" cap="none" strike="noStrike">
                <a:solidFill>
                  <a:srgbClr val="FFFFFF"/>
                </a:solidFill>
                <a:latin typeface="Oswald"/>
                <a:ea typeface="Oswald"/>
                <a:cs typeface="Oswald"/>
                <a:sym typeface="Oswald"/>
              </a:rPr>
              <a:t>IBM LINUXONE</a:t>
            </a:r>
            <a:endParaRPr/>
          </a:p>
        </p:txBody>
      </p:sp>
      <p:sp>
        <p:nvSpPr>
          <p:cNvPr id="187" name="Google Shape;187;p17"/>
          <p:cNvSpPr txBox="1"/>
          <p:nvPr/>
        </p:nvSpPr>
        <p:spPr>
          <a:xfrm>
            <a:off x="3681412" y="5712618"/>
            <a:ext cx="2673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F5A623"/>
                </a:solidFill>
                <a:latin typeface="Inter"/>
                <a:ea typeface="Inter"/>
                <a:cs typeface="Inter"/>
                <a:sym typeface="Inter"/>
              </a:rPr>
              <a:t>s390x Architecture</a:t>
            </a:r>
            <a:endParaRPr/>
          </a:p>
        </p:txBody>
      </p:sp>
      <p:sp>
        <p:nvSpPr>
          <p:cNvPr id="188" name="Google Shape;188;p17"/>
          <p:cNvSpPr txBox="1"/>
          <p:nvPr/>
        </p:nvSpPr>
        <p:spPr>
          <a:xfrm>
            <a:off x="3681412" y="5950743"/>
            <a:ext cx="2233500" cy="387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050" u="none" cap="none" strike="noStrike">
                <a:solidFill>
                  <a:srgbClr val="CBD5E1"/>
                </a:solidFill>
                <a:latin typeface="Inter"/>
                <a:ea typeface="Inter"/>
                <a:cs typeface="Inter"/>
                <a:sym typeface="Inter"/>
              </a:rPr>
              <a:t>Model trained, replayed, and demo served entirely from the VM.</a:t>
            </a:r>
            <a:endParaRPr/>
          </a:p>
        </p:txBody>
      </p:sp>
      <p:sp>
        <p:nvSpPr>
          <p:cNvPr id="189" name="Google Shape;189;p17"/>
          <p:cNvSpPr txBox="1"/>
          <p:nvPr/>
        </p:nvSpPr>
        <p:spPr>
          <a:xfrm>
            <a:off x="6372225" y="5805933"/>
            <a:ext cx="2673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F5A623"/>
                </a:solidFill>
                <a:latin typeface="Inter"/>
                <a:ea typeface="Inter"/>
                <a:cs typeface="Inter"/>
                <a:sym typeface="Inter"/>
              </a:rPr>
              <a:t>33 / 33</a:t>
            </a:r>
            <a:endParaRPr/>
          </a:p>
        </p:txBody>
      </p:sp>
      <p:sp>
        <p:nvSpPr>
          <p:cNvPr id="190" name="Google Shape;190;p17"/>
          <p:cNvSpPr txBox="1"/>
          <p:nvPr/>
        </p:nvSpPr>
        <p:spPr>
          <a:xfrm>
            <a:off x="6372225" y="6044058"/>
            <a:ext cx="2233500" cy="387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050" u="none" cap="none" strike="noStrike">
                <a:solidFill>
                  <a:srgbClr val="CBD5E1"/>
                </a:solidFill>
                <a:latin typeface="Inter"/>
                <a:ea typeface="Inter"/>
                <a:cs typeface="Inter"/>
                <a:sym typeface="Inter"/>
              </a:rPr>
              <a:t>Automated system tests passed successfully on the VM.</a:t>
            </a:r>
            <a:endParaRPr/>
          </a:p>
        </p:txBody>
      </p:sp>
      <p:sp>
        <p:nvSpPr>
          <p:cNvPr id="191" name="Google Shape;191;p17"/>
          <p:cNvSpPr txBox="1"/>
          <p:nvPr/>
        </p:nvSpPr>
        <p:spPr>
          <a:xfrm>
            <a:off x="9063037" y="5805933"/>
            <a:ext cx="2673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50" u="none" cap="none" strike="noStrike">
                <a:solidFill>
                  <a:srgbClr val="F5A623"/>
                </a:solidFill>
                <a:latin typeface="Inter"/>
                <a:ea typeface="Inter"/>
                <a:cs typeface="Inter"/>
                <a:sym typeface="Inter"/>
              </a:rPr>
              <a:t>Modelled Scale</a:t>
            </a:r>
            <a:endParaRPr/>
          </a:p>
        </p:txBody>
      </p:sp>
      <p:sp>
        <p:nvSpPr>
          <p:cNvPr id="192" name="Google Shape;192;p17"/>
          <p:cNvSpPr txBox="1"/>
          <p:nvPr/>
        </p:nvSpPr>
        <p:spPr>
          <a:xfrm>
            <a:off x="9063037" y="6044058"/>
            <a:ext cx="2233500" cy="3879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050" u="none" cap="none" strike="noStrike">
                <a:solidFill>
                  <a:srgbClr val="CBD5E1"/>
                </a:solidFill>
                <a:latin typeface="Inter"/>
                <a:ea typeface="Inter"/>
                <a:cs typeface="Inter"/>
                <a:sym typeface="Inter"/>
              </a:rPr>
              <a:t>Assumed 330-unit fleet size (response times are modelled).</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18"/>
          <p:cNvPicPr preferRelativeResize="0"/>
          <p:nvPr/>
        </p:nvPicPr>
        <p:blipFill>
          <a:blip r:embed="rId3">
            <a:alphaModFix/>
          </a:blip>
          <a:stretch>
            <a:fillRect/>
          </a:stretch>
        </p:blipFill>
        <p:spPr>
          <a:xfrm>
            <a:off x="0" y="23812"/>
            <a:ext cx="12192000" cy="683418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92C"/>
        </a:solidFill>
      </p:bgPr>
    </p:bg>
    <p:spTree>
      <p:nvGrpSpPr>
        <p:cNvPr id="201" name="Shape 201"/>
        <p:cNvGrpSpPr/>
        <p:nvPr/>
      </p:nvGrpSpPr>
      <p:grpSpPr>
        <a:xfrm>
          <a:off x="0" y="0"/>
          <a:ext cx="0" cy="0"/>
          <a:chOff x="0" y="0"/>
          <a:chExt cx="0" cy="0"/>
        </a:xfrm>
      </p:grpSpPr>
      <p:sp>
        <p:nvSpPr>
          <p:cNvPr id="202" name="Google Shape;202;p19"/>
          <p:cNvSpPr/>
          <p:nvPr/>
        </p:nvSpPr>
        <p:spPr>
          <a:xfrm>
            <a:off x="1466850" y="1387800"/>
            <a:ext cx="9963300" cy="46560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p19"/>
          <p:cNvSpPr/>
          <p:nvPr/>
        </p:nvSpPr>
        <p:spPr>
          <a:xfrm>
            <a:off x="323575" y="6043800"/>
            <a:ext cx="304800" cy="304800"/>
          </a:xfrm>
          <a:prstGeom prst="rect">
            <a:avLst/>
          </a:prstGeom>
          <a:solidFill>
            <a:srgbClr val="FFCC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19"/>
          <p:cNvSpPr/>
          <p:nvPr/>
        </p:nvSpPr>
        <p:spPr>
          <a:xfrm>
            <a:off x="1085850" y="1895475"/>
            <a:ext cx="114300" cy="114300"/>
          </a:xfrm>
          <a:prstGeom prst="roundRect">
            <a:avLst>
              <a:gd fmla="val 50000" name="adj"/>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19"/>
          <p:cNvSpPr/>
          <p:nvPr/>
        </p:nvSpPr>
        <p:spPr>
          <a:xfrm>
            <a:off x="1276350" y="1895475"/>
            <a:ext cx="114300" cy="114300"/>
          </a:xfrm>
          <a:prstGeom prst="roundRect">
            <a:avLst>
              <a:gd fmla="val 50000" name="adj"/>
            </a:avLst>
          </a:prstGeom>
          <a:solidFill>
            <a:srgbClr val="FFCC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9"/>
          <p:cNvSpPr/>
          <p:nvPr/>
        </p:nvSpPr>
        <p:spPr>
          <a:xfrm>
            <a:off x="1466850" y="1895475"/>
            <a:ext cx="114300" cy="114300"/>
          </a:xfrm>
          <a:prstGeom prst="roundRect">
            <a:avLst>
              <a:gd fmla="val 50000" name="adj"/>
            </a:avLst>
          </a:prstGeom>
          <a:solidFill>
            <a:srgbClr val="CBD5E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 name="Google Shape;207;p19"/>
          <p:cNvSpPr txBox="1"/>
          <p:nvPr/>
        </p:nvSpPr>
        <p:spPr>
          <a:xfrm>
            <a:off x="1219200" y="609600"/>
            <a:ext cx="176022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FFFFFF"/>
                </a:solidFill>
                <a:latin typeface="Oswald"/>
                <a:ea typeface="Oswald"/>
                <a:cs typeface="Oswald"/>
                <a:sym typeface="Oswald"/>
              </a:rPr>
              <a:t>THE DEMO</a:t>
            </a:r>
            <a:endParaRPr/>
          </a:p>
        </p:txBody>
      </p:sp>
      <p:sp>
        <p:nvSpPr>
          <p:cNvPr id="208" name="Google Shape;208;p19"/>
          <p:cNvSpPr txBox="1"/>
          <p:nvPr/>
        </p:nvSpPr>
        <p:spPr>
          <a:xfrm>
            <a:off x="9665642" y="1876425"/>
            <a:ext cx="1800634"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50" u="none" cap="none" strike="noStrike">
                <a:solidFill>
                  <a:srgbClr val="64748B"/>
                </a:solidFill>
                <a:latin typeface="Arial"/>
                <a:ea typeface="Arial"/>
                <a:cs typeface="Arial"/>
                <a:sym typeface="Arial"/>
              </a:rPr>
              <a:t>DISPATCH_SYSTEM_V2</a:t>
            </a:r>
            <a:endParaRPr/>
          </a:p>
        </p:txBody>
      </p:sp>
      <p:pic>
        <p:nvPicPr>
          <p:cNvPr id="209" name="Google Shape;209;p19"/>
          <p:cNvPicPr preferRelativeResize="0"/>
          <p:nvPr/>
        </p:nvPicPr>
        <p:blipFill>
          <a:blip r:embed="rId3">
            <a:alphaModFix/>
          </a:blip>
          <a:stretch>
            <a:fillRect/>
          </a:stretch>
        </p:blipFill>
        <p:spPr>
          <a:xfrm>
            <a:off x="986425" y="326625"/>
            <a:ext cx="10897649" cy="6076699"/>
          </a:xfrm>
          <a:prstGeom prst="rect">
            <a:avLst/>
          </a:prstGeom>
          <a:solidFill>
            <a:srgbClr val="FFFFFF"/>
          </a:solidFill>
          <a:ln>
            <a:noFill/>
          </a:ln>
        </p:spPr>
      </p:pic>
      <p:sp>
        <p:nvSpPr>
          <p:cNvPr id="210" name="Google Shape;210;p19"/>
          <p:cNvSpPr txBox="1"/>
          <p:nvPr/>
        </p:nvSpPr>
        <p:spPr>
          <a:xfrm rot="-5400000">
            <a:off x="-1582925" y="3463875"/>
            <a:ext cx="41178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600">
                <a:solidFill>
                  <a:srgbClr val="FFCC00"/>
                </a:solidFill>
                <a:latin typeface="Inter"/>
                <a:ea typeface="Inter"/>
                <a:cs typeface="Inter"/>
                <a:sym typeface="Inter"/>
              </a:rPr>
              <a:t>USER INTERFACE</a:t>
            </a:r>
            <a:endParaRPr sz="100">
              <a:solidFill>
                <a:srgbClr val="FFCC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5F6"/>
        </a:solidFill>
      </p:bgPr>
    </p:bg>
    <p:spTree>
      <p:nvGrpSpPr>
        <p:cNvPr id="214" name="Shape 214"/>
        <p:cNvGrpSpPr/>
        <p:nvPr/>
      </p:nvGrpSpPr>
      <p:grpSpPr>
        <a:xfrm>
          <a:off x="0" y="0"/>
          <a:ext cx="0" cy="0"/>
          <a:chOff x="0" y="0"/>
          <a:chExt cx="0" cy="0"/>
        </a:xfrm>
      </p:grpSpPr>
      <p:sp>
        <p:nvSpPr>
          <p:cNvPr id="215" name="Google Shape;215;p20"/>
          <p:cNvSpPr/>
          <p:nvPr/>
        </p:nvSpPr>
        <p:spPr>
          <a:xfrm>
            <a:off x="762000" y="762000"/>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 name="Google Shape;216;p20"/>
          <p:cNvSpPr/>
          <p:nvPr/>
        </p:nvSpPr>
        <p:spPr>
          <a:xfrm>
            <a:off x="762000" y="1752600"/>
            <a:ext cx="4793700" cy="5105400"/>
          </a:xfrm>
          <a:prstGeom prst="roundRect">
            <a:avLst>
              <a:gd fmla="val 2384"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 name="Google Shape;217;p20"/>
          <p:cNvSpPr/>
          <p:nvPr/>
        </p:nvSpPr>
        <p:spPr>
          <a:xfrm>
            <a:off x="5860400" y="1752600"/>
            <a:ext cx="5569500" cy="5105400"/>
          </a:xfrm>
          <a:prstGeom prst="roundRect">
            <a:avLst>
              <a:gd fmla="val 2121" name="adj"/>
            </a:avLst>
          </a:prstGeom>
          <a:solidFill>
            <a:srgbClr val="0A19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18" name="Google Shape;218;p20"/>
          <p:cNvPicPr preferRelativeResize="0"/>
          <p:nvPr/>
        </p:nvPicPr>
        <p:blipFill rotWithShape="1">
          <a:blip r:embed="rId3">
            <a:alphaModFix/>
          </a:blip>
          <a:srcRect b="0" l="0" r="0" t="0"/>
          <a:stretch/>
        </p:blipFill>
        <p:spPr>
          <a:xfrm>
            <a:off x="1219200" y="6344245"/>
            <a:ext cx="171450" cy="247650"/>
          </a:xfrm>
          <a:prstGeom prst="rect">
            <a:avLst/>
          </a:prstGeom>
          <a:noFill/>
          <a:ln>
            <a:noFill/>
          </a:ln>
        </p:spPr>
      </p:pic>
      <p:pic>
        <p:nvPicPr>
          <p:cNvPr descr="image.png" id="219" name="Google Shape;219;p20"/>
          <p:cNvPicPr preferRelativeResize="0"/>
          <p:nvPr/>
        </p:nvPicPr>
        <p:blipFill rotWithShape="1">
          <a:blip r:embed="rId4">
            <a:alphaModFix/>
          </a:blip>
          <a:srcRect b="0" l="0" r="0" t="0"/>
          <a:stretch/>
        </p:blipFill>
        <p:spPr>
          <a:xfrm>
            <a:off x="6317605" y="4962525"/>
            <a:ext cx="200025" cy="247650"/>
          </a:xfrm>
          <a:prstGeom prst="rect">
            <a:avLst/>
          </a:prstGeom>
          <a:noFill/>
          <a:ln>
            <a:noFill/>
          </a:ln>
        </p:spPr>
      </p:pic>
      <p:pic>
        <p:nvPicPr>
          <p:cNvPr descr="image.png" id="220" name="Google Shape;220;p20"/>
          <p:cNvPicPr preferRelativeResize="0"/>
          <p:nvPr/>
        </p:nvPicPr>
        <p:blipFill rotWithShape="1">
          <a:blip r:embed="rId4">
            <a:alphaModFix/>
          </a:blip>
          <a:srcRect b="0" l="0" r="0" t="0"/>
          <a:stretch/>
        </p:blipFill>
        <p:spPr>
          <a:xfrm>
            <a:off x="6317605" y="5960566"/>
            <a:ext cx="200025" cy="247650"/>
          </a:xfrm>
          <a:prstGeom prst="rect">
            <a:avLst/>
          </a:prstGeom>
          <a:noFill/>
          <a:ln>
            <a:noFill/>
          </a:ln>
        </p:spPr>
      </p:pic>
      <p:sp>
        <p:nvSpPr>
          <p:cNvPr id="221" name="Google Shape;221;p20"/>
          <p:cNvSpPr txBox="1"/>
          <p:nvPr/>
        </p:nvSpPr>
        <p:spPr>
          <a:xfrm>
            <a:off x="1295400" y="609600"/>
            <a:ext cx="96261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0A192F"/>
                </a:solidFill>
                <a:latin typeface="Oswald"/>
                <a:ea typeface="Oswald"/>
                <a:cs typeface="Oswald"/>
                <a:sym typeface="Oswald"/>
              </a:rPr>
              <a:t>THE COMPETITIVE ADVANTAGE</a:t>
            </a:r>
            <a:endParaRPr/>
          </a:p>
        </p:txBody>
      </p:sp>
      <p:sp>
        <p:nvSpPr>
          <p:cNvPr id="222" name="Google Shape;222;p20"/>
          <p:cNvSpPr txBox="1"/>
          <p:nvPr/>
        </p:nvSpPr>
        <p:spPr>
          <a:xfrm>
            <a:off x="1219200" y="2286000"/>
            <a:ext cx="50916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718096"/>
                </a:solidFill>
                <a:latin typeface="Oswald"/>
                <a:ea typeface="Oswald"/>
                <a:cs typeface="Oswald"/>
                <a:sym typeface="Oswald"/>
              </a:rPr>
              <a:t>LEGACY SOLUTIONS</a:t>
            </a:r>
            <a:endParaRPr/>
          </a:p>
        </p:txBody>
      </p:sp>
      <p:sp>
        <p:nvSpPr>
          <p:cNvPr id="223" name="Google Shape;223;p20"/>
          <p:cNvSpPr txBox="1"/>
          <p:nvPr/>
        </p:nvSpPr>
        <p:spPr>
          <a:xfrm>
            <a:off x="6317605" y="2286000"/>
            <a:ext cx="58743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FFFFFF"/>
                </a:solidFill>
                <a:latin typeface="Oswald"/>
                <a:ea typeface="Oswald"/>
                <a:cs typeface="Oswald"/>
                <a:sym typeface="Oswald"/>
              </a:rPr>
              <a:t>PROJECT DISPATCH</a:t>
            </a:r>
            <a:endParaRPr/>
          </a:p>
        </p:txBody>
      </p:sp>
      <p:sp>
        <p:nvSpPr>
          <p:cNvPr id="224" name="Google Shape;224;p20"/>
          <p:cNvSpPr txBox="1"/>
          <p:nvPr/>
        </p:nvSpPr>
        <p:spPr>
          <a:xfrm>
            <a:off x="1219200" y="3114675"/>
            <a:ext cx="4848900" cy="101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6600" u="none" cap="none" strike="noStrike">
                <a:solidFill>
                  <a:srgbClr val="CC0000"/>
                </a:solidFill>
                <a:latin typeface="Inter"/>
                <a:ea typeface="Inter"/>
                <a:cs typeface="Inter"/>
                <a:sym typeface="Inter"/>
              </a:rPr>
              <a:t>13 </a:t>
            </a:r>
            <a:r>
              <a:rPr b="1" i="0" lang="en-US" sz="3000" u="none" cap="none" strike="noStrike">
                <a:solidFill>
                  <a:srgbClr val="CC0000"/>
                </a:solidFill>
                <a:latin typeface="Inter"/>
                <a:ea typeface="Inter"/>
                <a:cs typeface="Inter"/>
                <a:sym typeface="Inter"/>
              </a:rPr>
              <a:t>MIN</a:t>
            </a:r>
            <a:endParaRPr/>
          </a:p>
        </p:txBody>
      </p:sp>
      <p:sp>
        <p:nvSpPr>
          <p:cNvPr id="225" name="Google Shape;225;p20"/>
          <p:cNvSpPr txBox="1"/>
          <p:nvPr/>
        </p:nvSpPr>
        <p:spPr>
          <a:xfrm>
            <a:off x="1219200" y="4105275"/>
            <a:ext cx="48489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800" u="none" cap="none" strike="noStrike">
                <a:solidFill>
                  <a:srgbClr val="4A5568"/>
                </a:solidFill>
                <a:latin typeface="Inter"/>
                <a:ea typeface="Inter"/>
                <a:cs typeface="Inter"/>
                <a:sym typeface="Inter"/>
              </a:rPr>
              <a:t>Mean response time.</a:t>
            </a:r>
            <a:endParaRPr/>
          </a:p>
        </p:txBody>
      </p:sp>
      <p:sp>
        <p:nvSpPr>
          <p:cNvPr id="226" name="Google Shape;226;p20"/>
          <p:cNvSpPr txBox="1"/>
          <p:nvPr/>
        </p:nvSpPr>
        <p:spPr>
          <a:xfrm>
            <a:off x="1638300" y="6329957"/>
            <a:ext cx="3555300" cy="2772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4A5568"/>
                </a:solidFill>
                <a:latin typeface="Times New Roman"/>
                <a:ea typeface="Times New Roman"/>
                <a:cs typeface="Times New Roman"/>
                <a:sym typeface="Times New Roman"/>
              </a:rPr>
              <a:t>Static, reactive deployment.</a:t>
            </a:r>
            <a:endParaRPr/>
          </a:p>
        </p:txBody>
      </p:sp>
      <p:sp>
        <p:nvSpPr>
          <p:cNvPr id="227" name="Google Shape;227;p20"/>
          <p:cNvSpPr txBox="1"/>
          <p:nvPr/>
        </p:nvSpPr>
        <p:spPr>
          <a:xfrm>
            <a:off x="6317605" y="3114675"/>
            <a:ext cx="5819100" cy="101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6600" u="none" cap="none" strike="noStrike">
                <a:solidFill>
                  <a:srgbClr val="F5A623"/>
                </a:solidFill>
                <a:latin typeface="Inter"/>
                <a:ea typeface="Inter"/>
                <a:cs typeface="Inter"/>
                <a:sym typeface="Inter"/>
              </a:rPr>
              <a:t>9.65 </a:t>
            </a:r>
            <a:r>
              <a:rPr b="1" i="0" lang="en-US" sz="3000" u="none" cap="none" strike="noStrike">
                <a:solidFill>
                  <a:srgbClr val="F5A623"/>
                </a:solidFill>
                <a:latin typeface="Inter"/>
                <a:ea typeface="Inter"/>
                <a:cs typeface="Inter"/>
                <a:sym typeface="Inter"/>
              </a:rPr>
              <a:t>MIN</a:t>
            </a:r>
            <a:endParaRPr/>
          </a:p>
        </p:txBody>
      </p:sp>
      <p:sp>
        <p:nvSpPr>
          <p:cNvPr id="228" name="Google Shape;228;p20"/>
          <p:cNvSpPr txBox="1"/>
          <p:nvPr/>
        </p:nvSpPr>
        <p:spPr>
          <a:xfrm>
            <a:off x="6317605" y="4105275"/>
            <a:ext cx="5819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800" u="none" cap="none" strike="noStrike">
                <a:solidFill>
                  <a:srgbClr val="A0AEC0"/>
                </a:solidFill>
                <a:latin typeface="Inter"/>
                <a:ea typeface="Inter"/>
                <a:cs typeface="Inter"/>
                <a:sym typeface="Inter"/>
              </a:rPr>
              <a:t>Mean response time.</a:t>
            </a:r>
            <a:endParaRPr/>
          </a:p>
        </p:txBody>
      </p:sp>
      <p:sp>
        <p:nvSpPr>
          <p:cNvPr id="229" name="Google Shape;229;p20"/>
          <p:cNvSpPr txBox="1"/>
          <p:nvPr/>
        </p:nvSpPr>
        <p:spPr>
          <a:xfrm>
            <a:off x="6708130" y="4914900"/>
            <a:ext cx="4359900" cy="646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100" u="none" cap="none" strike="noStrike">
                <a:solidFill>
                  <a:srgbClr val="FFFFFF"/>
                </a:solidFill>
                <a:latin typeface="Times New Roman"/>
                <a:ea typeface="Times New Roman"/>
                <a:cs typeface="Times New Roman"/>
                <a:sym typeface="Times New Roman"/>
              </a:rPr>
              <a:t> 90% of critical calls reached in </a:t>
            </a:r>
            <a:r>
              <a:rPr b="1" i="0" lang="en-US" sz="2100" u="none" cap="none" strike="noStrike">
                <a:solidFill>
                  <a:srgbClr val="F5A623"/>
                </a:solidFill>
                <a:latin typeface="Times New Roman"/>
                <a:ea typeface="Times New Roman"/>
                <a:cs typeface="Times New Roman"/>
                <a:sym typeface="Times New Roman"/>
              </a:rPr>
              <a:t>8 minutes</a:t>
            </a:r>
            <a:r>
              <a:rPr b="1" i="0" lang="en-US" sz="2100" u="none" cap="none" strike="noStrike">
                <a:solidFill>
                  <a:srgbClr val="FFFFFF"/>
                </a:solidFill>
                <a:latin typeface="Times New Roman"/>
                <a:ea typeface="Times New Roman"/>
                <a:cs typeface="Times New Roman"/>
                <a:sym typeface="Times New Roman"/>
              </a:rPr>
              <a:t>. </a:t>
            </a:r>
            <a:endParaRPr/>
          </a:p>
        </p:txBody>
      </p:sp>
      <p:sp>
        <p:nvSpPr>
          <p:cNvPr id="230" name="Google Shape;230;p20"/>
          <p:cNvSpPr txBox="1"/>
          <p:nvPr/>
        </p:nvSpPr>
        <p:spPr>
          <a:xfrm>
            <a:off x="6708130" y="5912941"/>
            <a:ext cx="4359900" cy="646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100" u="none" cap="none" strike="noStrike">
                <a:solidFill>
                  <a:srgbClr val="FFFFFF"/>
                </a:solidFill>
                <a:latin typeface="Times New Roman"/>
                <a:ea typeface="Times New Roman"/>
                <a:cs typeface="Times New Roman"/>
                <a:sym typeface="Times New Roman"/>
              </a:rPr>
              <a:t> Improved coverage in underserved areas.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21"/>
          <p:cNvSpPr/>
          <p:nvPr/>
        </p:nvSpPr>
        <p:spPr>
          <a:xfrm>
            <a:off x="762000" y="742950"/>
            <a:ext cx="304800" cy="3048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 name="Google Shape;236;p21"/>
          <p:cNvSpPr txBox="1"/>
          <p:nvPr/>
        </p:nvSpPr>
        <p:spPr>
          <a:xfrm>
            <a:off x="1219200" y="609600"/>
            <a:ext cx="1700212"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0B192C"/>
                </a:solidFill>
                <a:latin typeface="Oswald"/>
                <a:ea typeface="Oswald"/>
                <a:cs typeface="Oswald"/>
                <a:sym typeface="Oswald"/>
              </a:rPr>
              <a:t>THE TEAM</a:t>
            </a:r>
            <a:endParaRPr/>
          </a:p>
        </p:txBody>
      </p:sp>
      <p:sp>
        <p:nvSpPr>
          <p:cNvPr id="237" name="Google Shape;237;p21"/>
          <p:cNvSpPr txBox="1"/>
          <p:nvPr/>
        </p:nvSpPr>
        <p:spPr>
          <a:xfrm>
            <a:off x="8311975" y="5565475"/>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JACOB BARTON</a:t>
            </a:r>
            <a:endParaRPr/>
          </a:p>
        </p:txBody>
      </p:sp>
      <p:sp>
        <p:nvSpPr>
          <p:cNvPr id="238" name="Google Shape;238;p21"/>
          <p:cNvSpPr txBox="1"/>
          <p:nvPr/>
        </p:nvSpPr>
        <p:spPr>
          <a:xfrm>
            <a:off x="8311975" y="5877025"/>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DATA ANALYST</a:t>
            </a:r>
            <a:endParaRPr/>
          </a:p>
        </p:txBody>
      </p:sp>
      <p:sp>
        <p:nvSpPr>
          <p:cNvPr id="239" name="Google Shape;239;p21"/>
          <p:cNvSpPr txBox="1"/>
          <p:nvPr/>
        </p:nvSpPr>
        <p:spPr>
          <a:xfrm>
            <a:off x="8311975" y="4791900"/>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DOMINIC EASTON</a:t>
            </a:r>
            <a:endParaRPr/>
          </a:p>
        </p:txBody>
      </p:sp>
      <p:sp>
        <p:nvSpPr>
          <p:cNvPr id="240" name="Google Shape;240;p21"/>
          <p:cNvSpPr txBox="1"/>
          <p:nvPr/>
        </p:nvSpPr>
        <p:spPr>
          <a:xfrm>
            <a:off x="8311975" y="5171100"/>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BUSINESS ANALYST</a:t>
            </a:r>
            <a:endParaRPr/>
          </a:p>
        </p:txBody>
      </p:sp>
      <p:sp>
        <p:nvSpPr>
          <p:cNvPr id="241" name="Google Shape;241;p21"/>
          <p:cNvSpPr txBox="1"/>
          <p:nvPr/>
        </p:nvSpPr>
        <p:spPr>
          <a:xfrm>
            <a:off x="8311975" y="4074425"/>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HARRY ROWLANDS</a:t>
            </a:r>
            <a:endParaRPr/>
          </a:p>
        </p:txBody>
      </p:sp>
      <p:sp>
        <p:nvSpPr>
          <p:cNvPr id="242" name="Google Shape;242;p21"/>
          <p:cNvSpPr txBox="1"/>
          <p:nvPr/>
        </p:nvSpPr>
        <p:spPr>
          <a:xfrm>
            <a:off x="8311975" y="3316138"/>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DARRAGH COLEMAN</a:t>
            </a:r>
            <a:endParaRPr/>
          </a:p>
        </p:txBody>
      </p:sp>
      <p:sp>
        <p:nvSpPr>
          <p:cNvPr id="243" name="Google Shape;243;p21"/>
          <p:cNvSpPr txBox="1"/>
          <p:nvPr/>
        </p:nvSpPr>
        <p:spPr>
          <a:xfrm>
            <a:off x="8311975" y="2561950"/>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FREDERIC TATHAM</a:t>
            </a:r>
            <a:endParaRPr/>
          </a:p>
        </p:txBody>
      </p:sp>
      <p:sp>
        <p:nvSpPr>
          <p:cNvPr id="244" name="Google Shape;244;p21"/>
          <p:cNvSpPr txBox="1"/>
          <p:nvPr/>
        </p:nvSpPr>
        <p:spPr>
          <a:xfrm>
            <a:off x="8311975" y="1807788"/>
            <a:ext cx="3524400" cy="323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0B192C"/>
                </a:solidFill>
                <a:latin typeface="Oswald"/>
                <a:ea typeface="Oswald"/>
                <a:cs typeface="Oswald"/>
                <a:sym typeface="Oswald"/>
              </a:rPr>
              <a:t>NAPAT CHOLLABUD</a:t>
            </a:r>
            <a:endParaRPr/>
          </a:p>
        </p:txBody>
      </p:sp>
      <p:sp>
        <p:nvSpPr>
          <p:cNvPr id="245" name="Google Shape;245;p21"/>
          <p:cNvSpPr txBox="1"/>
          <p:nvPr/>
        </p:nvSpPr>
        <p:spPr>
          <a:xfrm>
            <a:off x="8311975" y="4397525"/>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DATA SCIENTIST</a:t>
            </a:r>
            <a:endParaRPr/>
          </a:p>
        </p:txBody>
      </p:sp>
      <p:sp>
        <p:nvSpPr>
          <p:cNvPr id="246" name="Google Shape;246;p21"/>
          <p:cNvSpPr txBox="1"/>
          <p:nvPr/>
        </p:nvSpPr>
        <p:spPr>
          <a:xfrm>
            <a:off x="8311975" y="3693388"/>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DATA ENGINEER</a:t>
            </a:r>
            <a:endParaRPr/>
          </a:p>
        </p:txBody>
      </p:sp>
      <p:sp>
        <p:nvSpPr>
          <p:cNvPr id="247" name="Google Shape;247;p21"/>
          <p:cNvSpPr txBox="1"/>
          <p:nvPr/>
        </p:nvSpPr>
        <p:spPr>
          <a:xfrm>
            <a:off x="8311975" y="2139175"/>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DATA ENGINEER</a:t>
            </a:r>
            <a:endParaRPr/>
          </a:p>
        </p:txBody>
      </p:sp>
      <p:sp>
        <p:nvSpPr>
          <p:cNvPr id="248" name="Google Shape;248;p21"/>
          <p:cNvSpPr txBox="1"/>
          <p:nvPr/>
        </p:nvSpPr>
        <p:spPr>
          <a:xfrm>
            <a:off x="8311975" y="2893350"/>
            <a:ext cx="3524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350">
                <a:solidFill>
                  <a:srgbClr val="CC0000"/>
                </a:solidFill>
                <a:latin typeface="Oswald"/>
                <a:ea typeface="Oswald"/>
                <a:cs typeface="Oswald"/>
                <a:sym typeface="Oswald"/>
              </a:rPr>
              <a:t>MAINFRAME ANALYST</a:t>
            </a:r>
            <a:endParaRPr/>
          </a:p>
        </p:txBody>
      </p:sp>
      <p:sp>
        <p:nvSpPr>
          <p:cNvPr id="249" name="Google Shape;249;p21"/>
          <p:cNvSpPr/>
          <p:nvPr/>
        </p:nvSpPr>
        <p:spPr>
          <a:xfrm>
            <a:off x="762000" y="1807800"/>
            <a:ext cx="132000" cy="43239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250" name="Google Shape;250;p21" title="IMG_4888.jpeg"/>
          <p:cNvPicPr preferRelativeResize="0"/>
          <p:nvPr/>
        </p:nvPicPr>
        <p:blipFill>
          <a:blip r:embed="rId3">
            <a:alphaModFix/>
          </a:blip>
          <a:stretch>
            <a:fillRect/>
          </a:stretch>
        </p:blipFill>
        <p:spPr>
          <a:xfrm>
            <a:off x="894000" y="1807800"/>
            <a:ext cx="6785690" cy="43238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92C"/>
        </a:solidFill>
      </p:bgPr>
    </p:bg>
    <p:spTree>
      <p:nvGrpSpPr>
        <p:cNvPr id="254" name="Shape 254"/>
        <p:cNvGrpSpPr/>
        <p:nvPr/>
      </p:nvGrpSpPr>
      <p:grpSpPr>
        <a:xfrm>
          <a:off x="0" y="0"/>
          <a:ext cx="0" cy="0"/>
          <a:chOff x="0" y="0"/>
          <a:chExt cx="0" cy="0"/>
        </a:xfrm>
      </p:grpSpPr>
      <p:sp>
        <p:nvSpPr>
          <p:cNvPr id="255" name="Google Shape;255;p22"/>
          <p:cNvSpPr/>
          <p:nvPr/>
        </p:nvSpPr>
        <p:spPr>
          <a:xfrm>
            <a:off x="0" y="0"/>
            <a:ext cx="12192000" cy="152400"/>
          </a:xfrm>
          <a:prstGeom prst="rect">
            <a:avLst/>
          </a:prstGeom>
          <a:solidFill>
            <a:srgbClr val="FFCC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p22"/>
          <p:cNvSpPr/>
          <p:nvPr/>
        </p:nvSpPr>
        <p:spPr>
          <a:xfrm>
            <a:off x="0" y="6705600"/>
            <a:ext cx="12192000" cy="1524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7" name="Google Shape;257;p22"/>
          <p:cNvSpPr/>
          <p:nvPr/>
        </p:nvSpPr>
        <p:spPr>
          <a:xfrm>
            <a:off x="5791200" y="4512766"/>
            <a:ext cx="609600" cy="38100"/>
          </a:xfrm>
          <a:prstGeom prst="rect">
            <a:avLst/>
          </a:prstGeom>
          <a:solidFill>
            <a:srgbClr val="CC00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8" name="Google Shape;258;p22"/>
          <p:cNvSpPr txBox="1"/>
          <p:nvPr/>
        </p:nvSpPr>
        <p:spPr>
          <a:xfrm>
            <a:off x="5316140" y="1221283"/>
            <a:ext cx="1559718" cy="342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800" u="none" cap="none" strike="noStrike">
                <a:solidFill>
                  <a:srgbClr val="FFCC00"/>
                </a:solidFill>
                <a:latin typeface="Oswald"/>
                <a:ea typeface="Oswald"/>
                <a:cs typeface="Oswald"/>
                <a:sym typeface="Oswald"/>
              </a:rPr>
              <a:t>THE FUTURE</a:t>
            </a:r>
            <a:endParaRPr/>
          </a:p>
        </p:txBody>
      </p:sp>
      <p:sp>
        <p:nvSpPr>
          <p:cNvPr id="259" name="Google Shape;259;p22"/>
          <p:cNvSpPr txBox="1"/>
          <p:nvPr/>
        </p:nvSpPr>
        <p:spPr>
          <a:xfrm>
            <a:off x="470296" y="1792783"/>
            <a:ext cx="11251406" cy="2262782"/>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5400" u="none" cap="none" strike="noStrike">
                <a:solidFill>
                  <a:srgbClr val="FFFFFF"/>
                </a:solidFill>
                <a:latin typeface="Oswald"/>
                <a:ea typeface="Oswald"/>
                <a:cs typeface="Oswald"/>
                <a:sym typeface="Oswald"/>
              </a:rPr>
              <a:t>BUILDING THE NEXT STANDARD OF URBAN RESPONSE.</a:t>
            </a:r>
            <a:endParaRPr/>
          </a:p>
        </p:txBody>
      </p:sp>
      <p:sp>
        <p:nvSpPr>
          <p:cNvPr id="260" name="Google Shape;260;p22"/>
          <p:cNvSpPr txBox="1"/>
          <p:nvPr/>
        </p:nvSpPr>
        <p:spPr>
          <a:xfrm>
            <a:off x="4506515" y="4928391"/>
            <a:ext cx="31791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800" u="none" cap="none" strike="noStrike">
                <a:solidFill>
                  <a:srgbClr val="CBD5E1"/>
                </a:solidFill>
                <a:latin typeface="Inter"/>
                <a:ea typeface="Inter"/>
                <a:cs typeface="Inter"/>
                <a:sym typeface="Inter"/>
              </a:rPr>
              <a:t>Questions &amp; Discussion</a:t>
            </a:r>
            <a:endParaRPr/>
          </a:p>
        </p:txBody>
      </p:sp>
      <p:sp>
        <p:nvSpPr>
          <p:cNvPr id="261" name="Google Shape;261;p22"/>
          <p:cNvSpPr txBox="1"/>
          <p:nvPr/>
        </p:nvSpPr>
        <p:spPr>
          <a:xfrm>
            <a:off x="470300" y="5449300"/>
            <a:ext cx="33843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jacob.barton@student.manchester.ac.uk</a:t>
            </a:r>
            <a:endParaRPr/>
          </a:p>
        </p:txBody>
      </p:sp>
      <p:sp>
        <p:nvSpPr>
          <p:cNvPr id="262" name="Google Shape;262;p22"/>
          <p:cNvSpPr txBox="1"/>
          <p:nvPr/>
        </p:nvSpPr>
        <p:spPr>
          <a:xfrm>
            <a:off x="4186350" y="5449300"/>
            <a:ext cx="36441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darragh.coleman</a:t>
            </a:r>
            <a:r>
              <a:rPr lang="en-US" sz="1350">
                <a:solidFill>
                  <a:srgbClr val="64748B"/>
                </a:solidFill>
                <a:latin typeface="Inter"/>
                <a:ea typeface="Inter"/>
                <a:cs typeface="Inter"/>
                <a:sym typeface="Inter"/>
              </a:rPr>
              <a:t>@student.manchester.ac.uk</a:t>
            </a:r>
            <a:endParaRPr/>
          </a:p>
        </p:txBody>
      </p:sp>
      <p:sp>
        <p:nvSpPr>
          <p:cNvPr id="263" name="Google Shape;263;p22"/>
          <p:cNvSpPr txBox="1"/>
          <p:nvPr/>
        </p:nvSpPr>
        <p:spPr>
          <a:xfrm>
            <a:off x="8162200" y="5449300"/>
            <a:ext cx="35595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harry.rowlands</a:t>
            </a:r>
            <a:r>
              <a:rPr lang="en-US" sz="1350">
                <a:solidFill>
                  <a:srgbClr val="64748B"/>
                </a:solidFill>
                <a:latin typeface="Inter"/>
                <a:ea typeface="Inter"/>
                <a:cs typeface="Inter"/>
                <a:sym typeface="Inter"/>
              </a:rPr>
              <a:t>@student.manchester.ac.uk</a:t>
            </a:r>
            <a:endParaRPr/>
          </a:p>
        </p:txBody>
      </p:sp>
      <p:sp>
        <p:nvSpPr>
          <p:cNvPr id="264" name="Google Shape;264;p22"/>
          <p:cNvSpPr txBox="1"/>
          <p:nvPr/>
        </p:nvSpPr>
        <p:spPr>
          <a:xfrm>
            <a:off x="470300" y="5989200"/>
            <a:ext cx="35595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dominic.easton</a:t>
            </a:r>
            <a:r>
              <a:rPr lang="en-US" sz="1350">
                <a:solidFill>
                  <a:srgbClr val="64748B"/>
                </a:solidFill>
                <a:latin typeface="Inter"/>
                <a:ea typeface="Inter"/>
                <a:cs typeface="Inter"/>
                <a:sym typeface="Inter"/>
              </a:rPr>
              <a:t>@student.manchester.ac.uk</a:t>
            </a:r>
            <a:endParaRPr/>
          </a:p>
        </p:txBody>
      </p:sp>
      <p:sp>
        <p:nvSpPr>
          <p:cNvPr id="265" name="Google Shape;265;p22"/>
          <p:cNvSpPr txBox="1"/>
          <p:nvPr/>
        </p:nvSpPr>
        <p:spPr>
          <a:xfrm>
            <a:off x="4316250" y="5989200"/>
            <a:ext cx="35595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napat.chollabud</a:t>
            </a:r>
            <a:r>
              <a:rPr lang="en-US" sz="1350">
                <a:solidFill>
                  <a:srgbClr val="64748B"/>
                </a:solidFill>
                <a:latin typeface="Inter"/>
                <a:ea typeface="Inter"/>
                <a:cs typeface="Inter"/>
                <a:sym typeface="Inter"/>
              </a:rPr>
              <a:t>@student.manchester.ac.uk</a:t>
            </a:r>
            <a:endParaRPr/>
          </a:p>
        </p:txBody>
      </p:sp>
      <p:sp>
        <p:nvSpPr>
          <p:cNvPr id="266" name="Google Shape;266;p22"/>
          <p:cNvSpPr txBox="1"/>
          <p:nvPr/>
        </p:nvSpPr>
        <p:spPr>
          <a:xfrm>
            <a:off x="8162200" y="5989200"/>
            <a:ext cx="3559500" cy="207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350">
                <a:solidFill>
                  <a:srgbClr val="64748B"/>
                </a:solidFill>
                <a:latin typeface="Inter"/>
                <a:ea typeface="Inter"/>
                <a:cs typeface="Inter"/>
                <a:sym typeface="Inter"/>
              </a:rPr>
              <a:t>frederic.tatham</a:t>
            </a:r>
            <a:r>
              <a:rPr lang="en-US" sz="1350">
                <a:solidFill>
                  <a:srgbClr val="64748B"/>
                </a:solidFill>
                <a:latin typeface="Inter"/>
                <a:ea typeface="Inter"/>
                <a:cs typeface="Inter"/>
                <a:sym typeface="Inter"/>
              </a:rPr>
              <a:t>@student.manchester.ac.uk</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