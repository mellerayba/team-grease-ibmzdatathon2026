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New York? Key Drivers</a:t>
            </a:r>
            <a:endParaRPr b="1" sz="1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Char char="●"/>
            </a:pPr>
            <a:r>
              <a:rPr b="1"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Traffic Gridlock:</a:t>
            </a:r>
            <a:r>
              <a:rPr lang="en-US">
                <a:solidFill>
                  <a:srgbClr val="334155"/>
                </a:solidFill>
              </a:rPr>
              <a:t> 490,000 cars &amp; 300,000 pedestrians flood Midtown daily, blocking response corridors.</a:t>
            </a:r>
            <a:endParaRPr>
              <a:solidFill>
                <a:srgbClr val="334155"/>
              </a:solidFill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334155"/>
              </a:buClr>
              <a:buSzPts val="1100"/>
              <a:buChar char="●"/>
            </a:pPr>
            <a:r>
              <a:rPr b="1"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Staffing Shortages:</a:t>
            </a:r>
            <a:r>
              <a:rPr lang="en-US">
                <a:solidFill>
                  <a:srgbClr val="334155"/>
                </a:solidFill>
              </a:rPr>
              <a:t> Unprecedented drop in active EMTs creating severe delays.</a:t>
            </a:r>
            <a:endParaRPr>
              <a:solidFill>
                <a:srgbClr val="334155"/>
              </a:solidFill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334155"/>
              </a:buClr>
              <a:buSzPts val="1100"/>
              <a:buChar char="●"/>
            </a:pPr>
            <a:r>
              <a:rPr b="1"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System Strain:</a:t>
            </a:r>
            <a:r>
              <a:rPr lang="en-US">
                <a:solidFill>
                  <a:srgbClr val="334155"/>
                </a:solidFill>
              </a:rPr>
              <a:t> Union leaders warn the EMS infrastructure is at breaking point.</a:t>
            </a:r>
            <a:endParaRPr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16ff1b7aafc467ae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16ff1b7aafc467ae_1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133975"/>
            <a:ext cx="762000" cy="571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4344739" cy="152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344739" y="0"/>
            <a:ext cx="1861988" cy="152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6876" y="0"/>
            <a:ext cx="598512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20687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6876" y="0"/>
            <a:ext cx="598512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609600" y="1666875"/>
            <a:ext cx="623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CC00"/>
                </a:solidFill>
                <a:latin typeface="Oswald"/>
                <a:ea typeface="Oswald"/>
                <a:cs typeface="Oswald"/>
                <a:sym typeface="Oswald"/>
              </a:rPr>
              <a:t>IBM Z Datathon: Theme 3 - Wildcard</a:t>
            </a:r>
            <a:endParaRPr sz="1350">
              <a:solidFill>
                <a:srgbClr val="FFCC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2143125"/>
            <a:ext cx="533707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PROJECT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DISPATCH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4124325"/>
            <a:ext cx="390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solution to New York EMS response times.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762000" y="74295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62000" y="4457549"/>
            <a:ext cx="57300" cy="924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472275" y="1912275"/>
            <a:ext cx="4953000" cy="1385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472275" y="3811225"/>
            <a:ext cx="4953000" cy="1710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472275" y="1912275"/>
            <a:ext cx="57300" cy="13854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472275" y="3811225"/>
            <a:ext cx="57300" cy="17106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219200" y="609600"/>
            <a:ext cx="243530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PROBLEM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57275" y="2119600"/>
            <a:ext cx="5353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13 minutes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57275" y="3415004"/>
            <a:ext cx="5300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AVERAGE DELAY IN AMBULANCE RESPONSE TIMES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47775" y="4538845"/>
            <a:ext cx="4857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Legacy infrastructure cannot handle the low staffing and high call volume especially in underserved </a:t>
            </a:r>
            <a:r>
              <a:rPr lang="en-US" sz="16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boroughs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34218" y="2119600"/>
            <a:ext cx="460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highlight>
                  <a:srgbClr val="FFFFFF"/>
                </a:highlight>
                <a:latin typeface="Oswald"/>
                <a:ea typeface="Oswald"/>
                <a:cs typeface="Oswald"/>
                <a:sym typeface="Oswald"/>
              </a:rPr>
              <a:t>"PEOPLE ARE DYING BECAUSE THERE ARE NO STAFF,"</a:t>
            </a:r>
            <a:r>
              <a:rPr b="1"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1"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834225" y="2791600"/>
            <a:ext cx="460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333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Anthony Almojera, a lieutenant paramedi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recognising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the ever 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increasing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callout time</a:t>
            </a:r>
            <a:r>
              <a:rPr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834225" y="4116025"/>
            <a:ext cx="460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MANUAL RESOURCE ALLOCATION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834225" y="4535125"/>
            <a:ext cx="4406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Human error in high-stress routing decisions.</a:t>
            </a:r>
            <a:b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Non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optimised resource allocation adds to an ever incr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easing response time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609600" y="743529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09600" y="1361129"/>
            <a:ext cx="4100400" cy="20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PRIMARY ADOPTION FOCUSED ON DENSE METROPOLITAN REGIONS. MODEL TRAINED ON NEW YORK CITY</a:t>
            </a: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 AS IT HAS THE LARGEST AND MOST INFORMATIVE DATASET AVAILABLE.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66800" y="610179"/>
            <a:ext cx="465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TARGET DEMOGRAPHIC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09600" y="3653770"/>
            <a:ext cx="685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490,000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09600" y="4263370"/>
            <a:ext cx="685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VEHICLES 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09600" y="4796770"/>
            <a:ext cx="685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8</a:t>
            </a:r>
            <a:r>
              <a:rPr b="1" i="0" lang="en-US" sz="48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.8M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09600" y="5406370"/>
            <a:ext cx="685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NYC POPULATION</a:t>
            </a:r>
            <a:endParaRPr/>
          </a:p>
        </p:txBody>
      </p:sp>
      <p:pic>
        <p:nvPicPr>
          <p:cNvPr id="122" name="Google Shape;122;p15" title="Screenshot 2026-10-17 at 14.55.31.png"/>
          <p:cNvPicPr preferRelativeResize="0"/>
          <p:nvPr/>
        </p:nvPicPr>
        <p:blipFill rotWithShape="1">
          <a:blip r:embed="rId3">
            <a:alphaModFix/>
          </a:blip>
          <a:srcRect b="0" l="0" r="0" t="8900"/>
          <a:stretch/>
        </p:blipFill>
        <p:spPr>
          <a:xfrm>
            <a:off x="6537525" y="1025200"/>
            <a:ext cx="5654475" cy="599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4">
            <a:alphaModFix/>
          </a:blip>
          <a:srcRect b="32314" l="7340" r="4016" t="32922"/>
          <a:stretch/>
        </p:blipFill>
        <p:spPr>
          <a:xfrm>
            <a:off x="7070485" y="0"/>
            <a:ext cx="5053791" cy="104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762000" y="74295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762000" y="1496825"/>
            <a:ext cx="3352800" cy="25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4419600" y="1496825"/>
            <a:ext cx="3352800" cy="25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8077200" y="1496825"/>
            <a:ext cx="3352800" cy="25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762000" y="1496837"/>
            <a:ext cx="3352800" cy="762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419600" y="1496837"/>
            <a:ext cx="33528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077200" y="1496837"/>
            <a:ext cx="3352800" cy="76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00" y="1758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8675" y="17390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219200" y="609600"/>
            <a:ext cx="246030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SOLUTION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66800" y="2400337"/>
            <a:ext cx="340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DETERMINING PRIORITY LOCATIONS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43000" y="3115325"/>
            <a:ext cx="285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Analysis of NYC Open Data EMS Incident Dispatch Data 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800600" y="2400337"/>
            <a:ext cx="340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PREDICTIVE ROUTING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805138" y="2873312"/>
            <a:ext cx="323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AI-driven path optimization.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381475" y="2333025"/>
            <a:ext cx="304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WEATHER RELATED INCIDENT PREDICTION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410500" y="3104300"/>
            <a:ext cx="2460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Analyse weather reports to determine preventative action.</a:t>
            </a:r>
            <a:endParaRPr sz="15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5">
            <a:alphaModFix/>
          </a:blip>
          <a:srcRect b="12954" l="20237" r="17189" t="20410"/>
          <a:stretch/>
        </p:blipFill>
        <p:spPr>
          <a:xfrm>
            <a:off x="8201100" y="1640325"/>
            <a:ext cx="650501" cy="6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/>
          <p:nvPr/>
        </p:nvSpPr>
        <p:spPr>
          <a:xfrm>
            <a:off x="772950" y="4341250"/>
            <a:ext cx="3352800" cy="25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419600" y="4341250"/>
            <a:ext cx="3352800" cy="25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8077200" y="4341250"/>
            <a:ext cx="3352800" cy="25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762000" y="4341262"/>
            <a:ext cx="3352800" cy="762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4419600" y="4341262"/>
            <a:ext cx="33528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066250" y="4341262"/>
            <a:ext cx="3352800" cy="76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107450" y="4632801"/>
            <a:ext cx="292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STATIC DEPLOYMENT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638975" y="4632801"/>
            <a:ext cx="292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DYNAMIC</a:t>
            </a: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 DEPLOYMENT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280150" y="4632801"/>
            <a:ext cx="292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VULNERABILITY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762000" y="74295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219200" y="609600"/>
            <a:ext cx="297037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TECHNOLOGY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1714500" y="2419350"/>
            <a:ext cx="8763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0" y="30765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3176587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0" y="3176587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3100" y="34004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3600" y="350043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25050" y="350043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167258" y="4257675"/>
            <a:ext cx="185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LINUX ONE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28625" y="4714875"/>
            <a:ext cx="333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320903" y="4357687"/>
            <a:ext cx="155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542234" y="4814887"/>
            <a:ext cx="310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090124" y="4357687"/>
            <a:ext cx="201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757046" y="4814887"/>
            <a:ext cx="267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/>
          <p:nvPr/>
        </p:nvSpPr>
        <p:spPr>
          <a:xfrm>
            <a:off x="762000" y="1638300"/>
            <a:ext cx="10668000" cy="521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762000" y="742950"/>
            <a:ext cx="304800" cy="304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857250" y="2171700"/>
            <a:ext cx="10477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1085850" y="1895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1276350" y="1895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466850" y="1895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219200" y="609600"/>
            <a:ext cx="176022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DEMO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665642" y="1876425"/>
            <a:ext cx="18006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DISPATCH_SYSTEM_V2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/>
          <p:nvPr/>
        </p:nvSpPr>
        <p:spPr>
          <a:xfrm>
            <a:off x="762000" y="74295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62000" y="1790700"/>
            <a:ext cx="5048250" cy="4457700"/>
          </a:xfrm>
          <a:prstGeom prst="rect">
            <a:avLst/>
          </a:prstGeom>
          <a:solidFill>
            <a:srgbClr val="F8FAFC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419850" y="1790700"/>
            <a:ext cx="5010150" cy="44577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238250" y="2867025"/>
            <a:ext cx="409575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10668000" y="179070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877050" y="2847975"/>
            <a:ext cx="40957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10668000" y="1790700"/>
            <a:ext cx="762000" cy="762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0668000" y="179070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3281362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3833812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4386262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7050" y="32623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7050" y="381476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7050" y="436721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1219200" y="609600"/>
            <a:ext cx="503562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COMPETITIVE ADVANTAGE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238250" y="2266950"/>
            <a:ext cx="44005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4748B"/>
                </a:solidFill>
                <a:latin typeface="Oswald"/>
                <a:ea typeface="Oswald"/>
                <a:cs typeface="Oswald"/>
                <a:sym typeface="Oswald"/>
              </a:rPr>
              <a:t>LEGACY SOLUTIONS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877050" y="2247900"/>
            <a:ext cx="44005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PROJECT DISPATCH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543050" y="3267075"/>
            <a:ext cx="481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543050" y="3819525"/>
            <a:ext cx="481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1543050" y="4371975"/>
            <a:ext cx="481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181850" y="3248025"/>
            <a:ext cx="481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CC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7181850" y="3800475"/>
            <a:ext cx="481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CC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7181850" y="4352925"/>
            <a:ext cx="481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CC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762075" y="5547650"/>
            <a:ext cx="10668000" cy="1076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62000" y="74295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762000" y="1234900"/>
            <a:ext cx="5105400" cy="4000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324600" y="1234900"/>
            <a:ext cx="5105400" cy="40005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61925" y="5547650"/>
            <a:ext cx="57300" cy="10764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762000" y="1638300"/>
            <a:ext cx="51054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324600" y="1638300"/>
            <a:ext cx="5105400" cy="76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025" y="59334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3700" y="1768300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6300" y="1882600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1219200" y="609600"/>
            <a:ext cx="185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VALUE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858267" y="2606500"/>
            <a:ext cx="291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64748B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877020" y="3149425"/>
            <a:ext cx="287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528762" y="4321000"/>
            <a:ext cx="3571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7336482" y="2720800"/>
            <a:ext cx="308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BD5E1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7978378" y="3263725"/>
            <a:ext cx="179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CC00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7133034" y="4435300"/>
            <a:ext cx="348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1733625" y="5776250"/>
            <a:ext cx="639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1733625" y="6195350"/>
            <a:ext cx="7488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762000" y="74295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219200" y="609600"/>
            <a:ext cx="17002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TEAM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311975" y="3295275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JACOB BARTON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311975" y="3606825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DATA ANALYST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311975" y="4037325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DOMINIC EASTON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8311975" y="4361175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BUSINESS ANALYST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8311975" y="4800525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HARRY ROWLANDS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8311975" y="5478075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DARRAGH COLEMAN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311975" y="1876275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FREDERIC TATHAM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311975" y="2634388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NAPAT CHOLLABUD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311975" y="5123625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DATA SCIENTIST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311975" y="5855325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DATA SCIENTIST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8311975" y="2965775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DATA ENGINEER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311975" y="2207675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MAINFRAME ANALYST</a:t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762000" y="1807800"/>
            <a:ext cx="132000" cy="4323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1" title="IMG_488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000" y="1807800"/>
            <a:ext cx="6785690" cy="432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791200" y="4512766"/>
            <a:ext cx="609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316140" y="1221283"/>
            <a:ext cx="15597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CC00"/>
                </a:solidFill>
                <a:latin typeface="Oswald"/>
                <a:ea typeface="Oswald"/>
                <a:cs typeface="Oswald"/>
                <a:sym typeface="Oswald"/>
              </a:rPr>
              <a:t>THE FUTURE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470296" y="1792783"/>
            <a:ext cx="11251406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BUILDING THE NEXT STANDARD OF URBAN RESPONSE.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4506515" y="4928391"/>
            <a:ext cx="317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470300" y="5449300"/>
            <a:ext cx="3384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jacob.barton@student.manchester.ac.uk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4186350" y="5449300"/>
            <a:ext cx="36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darragh.coleman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8162200" y="5449300"/>
            <a:ext cx="35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harry.rowlands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470300" y="5989200"/>
            <a:ext cx="35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dominic.easton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4316250" y="5989200"/>
            <a:ext cx="35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napat.chollabud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8162200" y="5989200"/>
            <a:ext cx="35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frederic.tatham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